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7" r:id="rId1"/>
  </p:sldMasterIdLst>
  <p:sldIdLst>
    <p:sldId id="256" r:id="rId2"/>
    <p:sldId id="257" r:id="rId3"/>
    <p:sldId id="258" r:id="rId4"/>
    <p:sldId id="260" r:id="rId5"/>
    <p:sldId id="264" r:id="rId6"/>
    <p:sldId id="265" r:id="rId7"/>
    <p:sldId id="268" r:id="rId8"/>
    <p:sldId id="266" r:id="rId9"/>
    <p:sldId id="270" r:id="rId10"/>
    <p:sldId id="272" r:id="rId11"/>
    <p:sldId id="273" r:id="rId12"/>
    <p:sldId id="275" r:id="rId13"/>
    <p:sldId id="276" r:id="rId14"/>
    <p:sldId id="277" r:id="rId15"/>
    <p:sldId id="278" r:id="rId16"/>
    <p:sldId id="279" r:id="rId17"/>
    <p:sldId id="280" r:id="rId18"/>
    <p:sldId id="281" r:id="rId19"/>
    <p:sldId id="282" r:id="rId20"/>
    <p:sldId id="283" r:id="rId21"/>
    <p:sldId id="269" r:id="rId22"/>
    <p:sldId id="28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5/17/2025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9243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919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5/17/2025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0286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3411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2225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0459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764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760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761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6634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9316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9095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5/17/2025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5489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8634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2659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268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5/17/2025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5302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5/17/2025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78728531"/>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 id="2147483930" r:id="rId13"/>
    <p:sldLayoutId id="2147483931" r:id="rId14"/>
    <p:sldLayoutId id="2147483932" r:id="rId15"/>
    <p:sldLayoutId id="2147483933" r:id="rId16"/>
    <p:sldLayoutId id="2147483934"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224" y="1071716"/>
            <a:ext cx="8728292" cy="2154084"/>
          </a:xfrm>
        </p:spPr>
        <p:txBody>
          <a:bodyPr>
            <a:normAutofit/>
          </a:bodyPr>
          <a:lstStyle/>
          <a:p>
            <a:r>
              <a:rPr b="1" dirty="0">
                <a:solidFill>
                  <a:schemeClr val="accent6">
                    <a:lumMod val="20000"/>
                    <a:lumOff val="80000"/>
                  </a:schemeClr>
                </a:solidFill>
              </a:rPr>
              <a:t>Online Book </a:t>
            </a:r>
            <a:r>
              <a:rPr lang="en-US" b="1" dirty="0">
                <a:solidFill>
                  <a:schemeClr val="accent6">
                    <a:lumMod val="20000"/>
                    <a:lumOff val="80000"/>
                  </a:schemeClr>
                </a:solidFill>
              </a:rPr>
              <a:t>donate</a:t>
            </a:r>
            <a:r>
              <a:rPr b="1" dirty="0">
                <a:solidFill>
                  <a:schemeClr val="accent6">
                    <a:lumMod val="20000"/>
                    <a:lumOff val="80000"/>
                  </a:schemeClr>
                </a:solidFill>
              </a:rPr>
              <a:t> Management System</a:t>
            </a:r>
          </a:p>
        </p:txBody>
      </p:sp>
      <p:sp>
        <p:nvSpPr>
          <p:cNvPr id="3" name="Subtitle 2"/>
          <p:cNvSpPr>
            <a:spLocks noGrp="1"/>
          </p:cNvSpPr>
          <p:nvPr>
            <p:ph type="subTitle" idx="1"/>
          </p:nvPr>
        </p:nvSpPr>
        <p:spPr>
          <a:xfrm>
            <a:off x="2172928" y="3632201"/>
            <a:ext cx="4837471" cy="831644"/>
          </a:xfrm>
        </p:spPr>
        <p:txBody>
          <a:bodyPr>
            <a:normAutofit/>
          </a:bodyPr>
          <a:lstStyle/>
          <a:p>
            <a:pPr algn="ctr"/>
            <a:r>
              <a:rPr lang="en-US" b="1" dirty="0">
                <a:solidFill>
                  <a:schemeClr val="tx1">
                    <a:lumMod val="50000"/>
                  </a:schemeClr>
                </a:solidFill>
              </a:rPr>
              <a:t>A Web-Based Platform for Buying, Selling, and Donating Books</a:t>
            </a:r>
          </a:p>
          <a:p>
            <a:pPr algn="ctr"/>
            <a:endParaRPr b="1" dirty="0">
              <a:solidFill>
                <a:schemeClr val="tx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977" y="-10155"/>
            <a:ext cx="8426245" cy="1293028"/>
          </a:xfrm>
        </p:spPr>
        <p:txBody>
          <a:bodyPr/>
          <a:lstStyle/>
          <a:p>
            <a:pPr algn="ctr"/>
            <a:r>
              <a:rPr b="1" dirty="0">
                <a:solidFill>
                  <a:srgbClr val="00B0F0"/>
                </a:solidFill>
                <a:latin typeface="Arial Black" panose="020B0A04020102020204" pitchFamily="34" charset="0"/>
              </a:rPr>
              <a:t>Abstract</a:t>
            </a:r>
          </a:p>
        </p:txBody>
      </p:sp>
      <p:sp>
        <p:nvSpPr>
          <p:cNvPr id="3" name="Content Placeholder 2"/>
          <p:cNvSpPr>
            <a:spLocks noGrp="1"/>
          </p:cNvSpPr>
          <p:nvPr>
            <p:ph idx="1"/>
          </p:nvPr>
        </p:nvSpPr>
        <p:spPr>
          <a:xfrm>
            <a:off x="594360" y="952500"/>
            <a:ext cx="8146516" cy="5372100"/>
          </a:xfrm>
        </p:spPr>
        <p:txBody>
          <a:bodyPr>
            <a:normAutofit/>
          </a:bodyPr>
          <a:lstStyle/>
          <a:p>
            <a:pPr marL="342900" lvl="0" indent="-342900" algn="just">
              <a:lnSpc>
                <a:spcPct val="150000"/>
              </a:lnSpc>
              <a:spcBef>
                <a:spcPts val="800"/>
              </a:spcBef>
              <a:buFont typeface="Symbol" panose="05050102010706020507" pitchFamily="18" charset="2"/>
              <a:buChar char=""/>
            </a:pPr>
            <a:r>
              <a:rPr lang="en-US" sz="2000" dirty="0">
                <a:effectLst/>
                <a:latin typeface="Times New Roman" panose="02020603050405020304" pitchFamily="18" charset="0"/>
                <a:ea typeface="Calibri" panose="020F0502020204030204" pitchFamily="34" charset="0"/>
              </a:rPr>
              <a:t>Online Book Donate Management is a website, developed to buy, sell or donate the books. It maintains the information about the personal details of their customers, also manage the books purchased or donated by them. </a:t>
            </a:r>
            <a:endParaRPr lang="en-IN" sz="2000" dirty="0">
              <a:effectLst/>
              <a:latin typeface="Times New Roman" panose="02020603050405020304" pitchFamily="18" charset="0"/>
              <a:ea typeface="Calibri" panose="020F0502020204030204" pitchFamily="34" charset="0"/>
            </a:endParaRPr>
          </a:p>
          <a:p>
            <a:pPr marL="342900" lvl="0" indent="-342900" algn="just">
              <a:lnSpc>
                <a:spcPct val="150000"/>
              </a:lnSpc>
              <a:spcBef>
                <a:spcPts val="800"/>
              </a:spcBef>
              <a:buFont typeface="Symbol" panose="05050102010706020507" pitchFamily="18" charset="2"/>
              <a:buChar char=""/>
              <a:tabLst>
                <a:tab pos="657860" algn="l"/>
              </a:tabLst>
            </a:pPr>
            <a:r>
              <a:rPr lang="en-US" sz="2000" dirty="0">
                <a:effectLst/>
                <a:latin typeface="Times New Roman" panose="02020603050405020304" pitchFamily="18" charset="0"/>
                <a:ea typeface="Calibri" panose="020F0502020204030204" pitchFamily="34" charset="0"/>
              </a:rPr>
              <a:t>It is simple to understand and can be used by anyone who is not even familiar with simple Book Donate system. This software package has been developed using the powerful coding tools of HTML, CSS &amp; Bootstrap at Front End and MySQL Server at Back End. </a:t>
            </a:r>
            <a:endParaRPr lang="en-IN" sz="2000" dirty="0">
              <a:effectLst/>
              <a:latin typeface="Times New Roman" panose="02020603050405020304" pitchFamily="18" charset="0"/>
              <a:ea typeface="Calibri" panose="020F0502020204030204" pitchFamily="34" charset="0"/>
            </a:endParaRPr>
          </a:p>
          <a:p>
            <a:pPr marL="342900" lvl="0" indent="-342900" algn="just">
              <a:lnSpc>
                <a:spcPct val="150000"/>
              </a:lnSpc>
              <a:spcBef>
                <a:spcPts val="800"/>
              </a:spcBef>
              <a:buFont typeface="Symbol" panose="05050102010706020507" pitchFamily="18" charset="2"/>
              <a:buChar char=""/>
            </a:pPr>
            <a:r>
              <a:rPr lang="en-US" sz="2000" dirty="0">
                <a:effectLst/>
                <a:latin typeface="Times New Roman" panose="02020603050405020304" pitchFamily="18" charset="0"/>
                <a:ea typeface="Calibri" panose="020F0502020204030204" pitchFamily="34" charset="0"/>
              </a:rPr>
              <a:t>The application provides a user-friendly interface for both donors and administrators. Donors can register, log in, and submit their book donations, including relevant details such as book title, author, condition, and quantity.</a:t>
            </a:r>
            <a:endParaRPr lang="en-IN" sz="2000" dirty="0">
              <a:effectLst/>
              <a:latin typeface="Times New Roman" panose="02020603050405020304" pitchFamily="18" charset="0"/>
              <a:ea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3372" y="226010"/>
            <a:ext cx="8136685" cy="725083"/>
          </a:xfrm>
        </p:spPr>
        <p:txBody>
          <a:bodyPr/>
          <a:lstStyle/>
          <a:p>
            <a:pPr algn="ctr"/>
            <a:r>
              <a:rPr b="1" dirty="0">
                <a:solidFill>
                  <a:srgbClr val="00B0F0"/>
                </a:solidFill>
                <a:latin typeface="Arial Black" panose="020B0A04020102020204" pitchFamily="34" charset="0"/>
              </a:rPr>
              <a:t>Introduction</a:t>
            </a:r>
          </a:p>
        </p:txBody>
      </p:sp>
      <p:sp>
        <p:nvSpPr>
          <p:cNvPr id="3" name="Content Placeholder 2"/>
          <p:cNvSpPr>
            <a:spLocks noGrp="1"/>
          </p:cNvSpPr>
          <p:nvPr>
            <p:ph idx="1"/>
          </p:nvPr>
        </p:nvSpPr>
        <p:spPr>
          <a:xfrm>
            <a:off x="329569" y="873632"/>
            <a:ext cx="8484860" cy="5887654"/>
          </a:xfrm>
        </p:spPr>
        <p:txBody>
          <a:bodyPr>
            <a:normAutofit lnSpcReduction="10000"/>
          </a:bodyPr>
          <a:lstStyle/>
          <a:p>
            <a:pPr marL="90170" algn="just">
              <a:lnSpc>
                <a:spcPct val="150000"/>
              </a:lnSpc>
              <a:buNone/>
            </a:pPr>
            <a:r>
              <a:rPr lang="en-US" sz="1800" dirty="0">
                <a:effectLst/>
                <a:latin typeface="Times New Roman" panose="02020603050405020304" pitchFamily="18" charset="0"/>
                <a:ea typeface="Times New Roman" panose="02020603050405020304" pitchFamily="18" charset="0"/>
              </a:rPr>
              <a:t>Online Book Donate and Donation is a form of e commerce website which allows customer for buying, Donate and donation of books directly from a seller over the Internet using a web browser. </a:t>
            </a:r>
          </a:p>
          <a:p>
            <a:pPr marL="90170" algn="just">
              <a:lnSpc>
                <a:spcPct val="150000"/>
              </a:lnSpc>
              <a:buNone/>
            </a:pPr>
            <a:r>
              <a:rPr lang="en-US" sz="2000" b="1" dirty="0">
                <a:effectLst/>
                <a:latin typeface="Times New Roman" panose="02020603050405020304" pitchFamily="18" charset="0"/>
                <a:ea typeface="Times New Roman" panose="02020603050405020304" pitchFamily="18" charset="0"/>
              </a:rPr>
              <a:t>Objective:</a:t>
            </a:r>
            <a:endParaRPr lang="en-IN" sz="2000" dirty="0">
              <a:effectLst/>
              <a:latin typeface="Times New Roman" panose="02020603050405020304" pitchFamily="18" charset="0"/>
              <a:ea typeface="Times New Roman" panose="02020603050405020304" pitchFamily="18" charset="0"/>
            </a:endParaRPr>
          </a:p>
          <a:p>
            <a:pPr marL="800100" lvl="1" indent="-342900" algn="just">
              <a:lnSpc>
                <a:spcPct val="115000"/>
              </a:lnSpc>
              <a:spcBef>
                <a:spcPts val="800"/>
              </a:spcBef>
              <a:buFont typeface="Symbol" panose="05050102010706020507" pitchFamily="18" charset="2"/>
              <a:buChar char=""/>
            </a:pPr>
            <a:r>
              <a:rPr lang="en-US" sz="1600" b="1" u="dbl" dirty="0">
                <a:effectLst/>
                <a:latin typeface="Times New Roman" panose="02020603050405020304" pitchFamily="18" charset="0"/>
                <a:ea typeface="Times New Roman" panose="02020603050405020304" pitchFamily="18" charset="0"/>
              </a:rPr>
              <a:t>To provide a simple interface for users to donate and receive books.</a:t>
            </a:r>
          </a:p>
          <a:p>
            <a:pPr marL="457200" lvl="1" indent="0" algn="just">
              <a:lnSpc>
                <a:spcPct val="115000"/>
              </a:lnSpc>
              <a:spcBef>
                <a:spcPts val="800"/>
              </a:spcBef>
              <a:buNone/>
            </a:pPr>
            <a:r>
              <a:rPr lang="en-US" sz="1800" dirty="0">
                <a:effectLst/>
                <a:latin typeface="Times New Roman" panose="02020603050405020304" pitchFamily="18" charset="0"/>
                <a:ea typeface="Times New Roman" panose="02020603050405020304" pitchFamily="18" charset="0"/>
              </a:rPr>
              <a:t>The main objective of the project is to create an online book Donate and donation store that allows users to search and buy a book online based on title, author and subject.</a:t>
            </a:r>
            <a:endParaRPr lang="en-IN" sz="1800" dirty="0">
              <a:latin typeface="Times New Roman" panose="02020603050405020304" pitchFamily="18" charset="0"/>
              <a:ea typeface="Times New Roman" panose="02020603050405020304" pitchFamily="18" charset="0"/>
            </a:endParaRPr>
          </a:p>
          <a:p>
            <a:pPr marL="457200" lvl="1" indent="0" algn="just">
              <a:lnSpc>
                <a:spcPct val="115000"/>
              </a:lnSpc>
              <a:spcBef>
                <a:spcPts val="800"/>
              </a:spcBef>
              <a:buNone/>
            </a:pPr>
            <a:r>
              <a:rPr lang="en-US" sz="1800" dirty="0">
                <a:effectLst/>
                <a:latin typeface="Times New Roman" panose="02020603050405020304" pitchFamily="18" charset="0"/>
                <a:ea typeface="Times New Roman" panose="02020603050405020304" pitchFamily="18" charset="0"/>
              </a:rPr>
              <a:t>There are many online book stores like Amazon Kindle, e-readers which were designed using Html. </a:t>
            </a:r>
            <a:endParaRPr lang="en-IN" sz="1800" dirty="0">
              <a:effectLst/>
              <a:latin typeface="Times New Roman" panose="02020603050405020304" pitchFamily="18" charset="0"/>
              <a:ea typeface="Times New Roman" panose="02020603050405020304" pitchFamily="18" charset="0"/>
            </a:endParaRPr>
          </a:p>
          <a:p>
            <a:pPr marL="800100" lvl="1" indent="-342900" algn="just">
              <a:lnSpc>
                <a:spcPct val="150000"/>
              </a:lnSpc>
              <a:spcBef>
                <a:spcPts val="800"/>
              </a:spcBef>
              <a:buFont typeface="Symbol" panose="05050102010706020507" pitchFamily="18" charset="2"/>
              <a:buChar char=""/>
            </a:pPr>
            <a:r>
              <a:rPr lang="en-US" sz="1600" b="1" u="dbl" dirty="0">
                <a:effectLst/>
                <a:latin typeface="Times New Roman" panose="02020603050405020304" pitchFamily="18" charset="0"/>
                <a:ea typeface="Times New Roman" panose="02020603050405020304" pitchFamily="18" charset="0"/>
              </a:rPr>
              <a:t>In our website, we focused on donation section which is the most important part of our website. </a:t>
            </a:r>
            <a:endParaRPr lang="en-IN" sz="1600" b="1" u="dbl" dirty="0">
              <a:latin typeface="Times New Roman" panose="02020603050405020304" pitchFamily="18" charset="0"/>
              <a:ea typeface="Times New Roman" panose="02020603050405020304" pitchFamily="18" charset="0"/>
            </a:endParaRPr>
          </a:p>
          <a:p>
            <a:pPr marL="457200" lvl="1" indent="0" algn="just">
              <a:lnSpc>
                <a:spcPct val="150000"/>
              </a:lnSpc>
              <a:spcBef>
                <a:spcPts val="800"/>
              </a:spcBef>
              <a:buNone/>
            </a:pPr>
            <a:r>
              <a:rPr lang="en-US" sz="1800" dirty="0">
                <a:effectLst/>
                <a:latin typeface="Times New Roman" panose="02020603050405020304" pitchFamily="18" charset="0"/>
                <a:ea typeface="Times New Roman" panose="02020603050405020304" pitchFamily="18" charset="0"/>
              </a:rPr>
              <a:t>Online Book store is an online web application where the customer can buy, sell and donate books online. Through a web browser the user can search for a book by its title or author.</a:t>
            </a:r>
            <a:endParaRPr lang="en-US" sz="1800" b="1" dirty="0">
              <a:effectLst/>
              <a:latin typeface="Times New Roman" panose="02020603050405020304" pitchFamily="18" charset="0"/>
              <a:ea typeface="Times New Roman" panose="02020603050405020304" pitchFamily="18" charset="0"/>
            </a:endParaRPr>
          </a:p>
          <a:p>
            <a:pPr marL="0" indent="0" algn="just">
              <a:lnSpc>
                <a:spcPct val="150000"/>
              </a:lnSpc>
              <a:spcBef>
                <a:spcPts val="800"/>
              </a:spcBef>
              <a:buNone/>
            </a:pPr>
            <a:endParaRPr sz="27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422997"/>
            <a:ext cx="7955280" cy="1293028"/>
          </a:xfrm>
        </p:spPr>
        <p:txBody>
          <a:bodyPr/>
          <a:lstStyle/>
          <a:p>
            <a:pPr algn="ctr"/>
            <a:r>
              <a:rPr lang="en-IN" b="1" dirty="0">
                <a:solidFill>
                  <a:srgbClr val="00B0F0"/>
                </a:solidFill>
                <a:latin typeface="Arial Black" panose="020B0A04020102020204" pitchFamily="34" charset="0"/>
              </a:rPr>
              <a:t>Purpose &amp; scope</a:t>
            </a:r>
            <a:endParaRPr b="1" dirty="0">
              <a:solidFill>
                <a:srgbClr val="00B0F0"/>
              </a:solidFill>
              <a:latin typeface="Arial Black" panose="020B0A04020102020204" pitchFamily="34" charset="0"/>
            </a:endParaRPr>
          </a:p>
        </p:txBody>
      </p:sp>
      <p:sp>
        <p:nvSpPr>
          <p:cNvPr id="3" name="Content Placeholder 2"/>
          <p:cNvSpPr>
            <a:spLocks noGrp="1"/>
          </p:cNvSpPr>
          <p:nvPr>
            <p:ph idx="1"/>
          </p:nvPr>
        </p:nvSpPr>
        <p:spPr>
          <a:xfrm>
            <a:off x="594360" y="1394460"/>
            <a:ext cx="7955280" cy="4799076"/>
          </a:xfrm>
        </p:spPr>
        <p:txBody>
          <a:bodyPr>
            <a:normAutofit/>
          </a:bodyPr>
          <a:lstStyle/>
          <a:p>
            <a:pPr marL="0" indent="0" algn="just">
              <a:lnSpc>
                <a:spcPct val="150000"/>
              </a:lnSpc>
              <a:spcBef>
                <a:spcPts val="800"/>
              </a:spcBef>
              <a:buNone/>
            </a:pPr>
            <a:r>
              <a:rPr lang="en-US" sz="2800" b="1" dirty="0">
                <a:effectLst/>
                <a:latin typeface="Times New Roman" panose="02020603050405020304" pitchFamily="18" charset="0"/>
                <a:ea typeface="Times New Roman" panose="02020603050405020304" pitchFamily="18" charset="0"/>
              </a:rPr>
              <a:t>Purpose:</a:t>
            </a:r>
          </a:p>
          <a:p>
            <a:pPr marL="457200" lvl="1" indent="0" algn="just">
              <a:lnSpc>
                <a:spcPct val="150000"/>
              </a:lnSpc>
              <a:spcBef>
                <a:spcPts val="800"/>
              </a:spcBef>
              <a:buNone/>
            </a:pPr>
            <a:r>
              <a:rPr lang="en-US" sz="2200" dirty="0">
                <a:effectLst/>
                <a:latin typeface="Times New Roman" panose="02020603050405020304" pitchFamily="18" charset="0"/>
                <a:ea typeface="Times New Roman" panose="02020603050405020304" pitchFamily="18" charset="0"/>
              </a:rPr>
              <a:t>Using this website, user can purchase a book, resell and donate online instead of going out to a book store and wasting time.</a:t>
            </a:r>
            <a:endParaRPr lang="en-IN" sz="2200" dirty="0">
              <a:effectLst/>
              <a:latin typeface="Times New Roman" panose="02020603050405020304" pitchFamily="18" charset="0"/>
              <a:ea typeface="Times New Roman" panose="02020603050405020304" pitchFamily="18" charset="0"/>
            </a:endParaRPr>
          </a:p>
          <a:p>
            <a:pPr marL="90170">
              <a:lnSpc>
                <a:spcPct val="150000"/>
              </a:lnSpc>
              <a:buNone/>
            </a:pPr>
            <a:r>
              <a:rPr lang="en-US" sz="2400" b="1" dirty="0">
                <a:effectLst/>
                <a:latin typeface="Times New Roman" panose="02020603050405020304" pitchFamily="18" charset="0"/>
                <a:ea typeface="Times New Roman" panose="02020603050405020304" pitchFamily="18" charset="0"/>
              </a:rPr>
              <a:t>Scope:</a:t>
            </a:r>
          </a:p>
          <a:p>
            <a:pPr marL="547370" lvl="1" algn="just">
              <a:lnSpc>
                <a:spcPct val="150000"/>
              </a:lnSpc>
              <a:buNone/>
            </a:pPr>
            <a:r>
              <a:rPr lang="en-US" sz="2200" dirty="0">
                <a:effectLst/>
                <a:latin typeface="Times New Roman" panose="02020603050405020304" pitchFamily="18" charset="0"/>
                <a:ea typeface="Times New Roman" panose="02020603050405020304" pitchFamily="18" charset="0"/>
              </a:rPr>
              <a:t>	This system is intended for use by educational institutions, non-profit organizations, libraries, and individuals who wish to donate or receive books</a:t>
            </a:r>
            <a:r>
              <a:rPr lang="en-US" sz="2200">
                <a:effectLst/>
                <a:latin typeface="Times New Roman" panose="02020603050405020304" pitchFamily="18" charset="0"/>
                <a:ea typeface="Times New Roman" panose="02020603050405020304" pitchFamily="18" charset="0"/>
              </a:rPr>
              <a:t>. </a:t>
            </a:r>
            <a:endParaRPr lang="en-US" sz="2200" b="1" dirty="0">
              <a:effectLst/>
              <a:latin typeface="Times New Roman" panose="02020603050405020304" pitchFamily="18" charset="0"/>
              <a:ea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975" y="117859"/>
            <a:ext cx="7955280" cy="1293028"/>
          </a:xfrm>
        </p:spPr>
        <p:txBody>
          <a:bodyPr>
            <a:normAutofit/>
          </a:bodyPr>
          <a:lstStyle/>
          <a:p>
            <a:r>
              <a:rPr lang="en-US" sz="3600" b="1" dirty="0">
                <a:solidFill>
                  <a:srgbClr val="00B0F0"/>
                </a:solidFill>
                <a:latin typeface="Arial Black" panose="020B0A04020102020204" pitchFamily="34" charset="0"/>
              </a:rPr>
              <a:t>System specification</a:t>
            </a:r>
            <a:endParaRPr sz="3600" b="1" dirty="0">
              <a:solidFill>
                <a:srgbClr val="00B0F0"/>
              </a:solidFill>
              <a:latin typeface="Arial Black" panose="020B0A04020102020204" pitchFamily="34" charset="0"/>
            </a:endParaRPr>
          </a:p>
        </p:txBody>
      </p:sp>
      <p:sp>
        <p:nvSpPr>
          <p:cNvPr id="3" name="Content Placeholder 2"/>
          <p:cNvSpPr>
            <a:spLocks noGrp="1"/>
          </p:cNvSpPr>
          <p:nvPr>
            <p:ph idx="1"/>
          </p:nvPr>
        </p:nvSpPr>
        <p:spPr>
          <a:xfrm>
            <a:off x="265176" y="1131865"/>
            <a:ext cx="8189976" cy="2513543"/>
          </a:xfrm>
        </p:spPr>
        <p:txBody>
          <a:bodyPr>
            <a:normAutofit fontScale="92500" lnSpcReduction="10000"/>
          </a:bodyPr>
          <a:lstStyle/>
          <a:p>
            <a:pPr marL="0" indent="0">
              <a:buNone/>
            </a:pPr>
            <a:r>
              <a:rPr lang="en-US" sz="3500" b="1" dirty="0"/>
              <a:t>Hardware Requirement:</a:t>
            </a: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PROCESSOR		: Intel Core i5. </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RAM 			: 4 GB DDR2 RAM</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MONITOR 		: 15.6 </a:t>
            </a:r>
            <a:r>
              <a:rPr lang="en-US" sz="1800" dirty="0" err="1">
                <a:effectLst/>
                <a:latin typeface="Times New Roman" panose="02020603050405020304" pitchFamily="18" charset="0"/>
                <a:ea typeface="Calibri" panose="020F0502020204030204" pitchFamily="34" charset="0"/>
                <a:cs typeface="Tunga" panose="020B0502040204020203" pitchFamily="34" charset="0"/>
              </a:rPr>
              <a:t>inc</a:t>
            </a:r>
            <a:r>
              <a:rPr lang="en-US" sz="1800" dirty="0">
                <a:effectLst/>
                <a:latin typeface="Times New Roman" panose="02020603050405020304" pitchFamily="18" charset="0"/>
                <a:ea typeface="Calibri" panose="020F0502020204030204" pitchFamily="34" charset="0"/>
                <a:cs typeface="Tunga" panose="020B0502040204020203" pitchFamily="34" charset="0"/>
              </a:rPr>
              <a:t>” COLOR</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lgn="just">
              <a:lnSpc>
                <a:spcPct val="150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HARD DISK     		: </a:t>
            </a:r>
            <a:r>
              <a:rPr lang="en-US" sz="1800" dirty="0">
                <a:latin typeface="Times New Roman" panose="02020603050405020304" pitchFamily="18" charset="0"/>
                <a:ea typeface="Calibri" panose="020F0502020204030204" pitchFamily="34" charset="0"/>
                <a:cs typeface="Tunga" panose="020B0502040204020203" pitchFamily="34" charset="0"/>
              </a:rPr>
              <a:t>512</a:t>
            </a:r>
            <a:r>
              <a:rPr lang="en-US" sz="1800" dirty="0">
                <a:effectLst/>
                <a:latin typeface="Times New Roman" panose="02020603050405020304" pitchFamily="18" charset="0"/>
                <a:ea typeface="Calibri" panose="020F0502020204030204" pitchFamily="34" charset="0"/>
                <a:cs typeface="Tunga" panose="020B0502040204020203" pitchFamily="34" charset="0"/>
              </a:rPr>
              <a:t> GB</a:t>
            </a:r>
            <a:endParaRPr lang="en-IN" sz="1800" dirty="0">
              <a:effectLst/>
              <a:latin typeface="Calibri" panose="020F0502020204030204" pitchFamily="34" charset="0"/>
              <a:ea typeface="Calibri" panose="020F0502020204030204" pitchFamily="34" charset="0"/>
              <a:cs typeface="Tunga" panose="020B0502040204020203" pitchFamily="34" charset="0"/>
            </a:endParaRPr>
          </a:p>
        </p:txBody>
      </p:sp>
      <p:sp>
        <p:nvSpPr>
          <p:cNvPr id="5" name="TextBox 4">
            <a:extLst>
              <a:ext uri="{FF2B5EF4-FFF2-40B4-BE49-F238E27FC236}">
                <a16:creationId xmlns:a16="http://schemas.microsoft.com/office/drawing/2014/main" id="{3131A97E-ADFA-5189-05EA-D6A7D79A9CA4}"/>
              </a:ext>
            </a:extLst>
          </p:cNvPr>
          <p:cNvSpPr txBox="1"/>
          <p:nvPr/>
        </p:nvSpPr>
        <p:spPr>
          <a:xfrm>
            <a:off x="265176" y="3948217"/>
            <a:ext cx="8189976" cy="2552622"/>
          </a:xfrm>
          <a:prstGeom prst="rect">
            <a:avLst/>
          </a:prstGeom>
          <a:noFill/>
        </p:spPr>
        <p:txBody>
          <a:bodyPr wrap="square">
            <a:spAutoFit/>
          </a:bodyPr>
          <a:lstStyle/>
          <a:p>
            <a:pPr marL="0" indent="0" algn="just">
              <a:lnSpc>
                <a:spcPct val="150000"/>
              </a:lnSpc>
              <a:buNone/>
            </a:pPr>
            <a:r>
              <a:rPr lang="en-US" sz="3200" b="1" dirty="0">
                <a:latin typeface="Times New Roman" panose="02020603050405020304" pitchFamily="18" charset="0"/>
                <a:ea typeface="Calibri" panose="020F0502020204030204" pitchFamily="34" charset="0"/>
                <a:cs typeface="Tunga" panose="020B0502040204020203" pitchFamily="34" charset="0"/>
              </a:rPr>
              <a:t>Software </a:t>
            </a:r>
            <a:r>
              <a:rPr lang="en-US" sz="3200" b="1" dirty="0"/>
              <a:t>Requirement:</a:t>
            </a:r>
            <a:endParaRPr lang="en-US" sz="3200" b="1" dirty="0">
              <a:effectLst/>
              <a:latin typeface="Times New Roman" panose="02020603050405020304" pitchFamily="18" charset="0"/>
              <a:ea typeface="Calibri" panose="020F0502020204030204" pitchFamily="34" charset="0"/>
              <a:cs typeface="Tunga" panose="020B0502040204020203" pitchFamily="34"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Front End   			:         HTML, CSS, JavaScript,</a:t>
            </a:r>
            <a:r>
              <a:rPr lang="en-US" dirty="0">
                <a:latin typeface="Times New Roman" panose="02020603050405020304" pitchFamily="18" charset="0"/>
                <a:ea typeface="Calibri" panose="020F0502020204030204" pitchFamily="34" charset="0"/>
                <a:cs typeface="Tunga" panose="020B0502040204020203" pitchFamily="34" charset="0"/>
              </a:rPr>
              <a:t> </a:t>
            </a:r>
            <a:r>
              <a:rPr lang="en-US" sz="1800" dirty="0">
                <a:effectLst/>
                <a:latin typeface="Times New Roman" panose="02020603050405020304" pitchFamily="18" charset="0"/>
                <a:ea typeface="Calibri" panose="020F0502020204030204" pitchFamily="34" charset="0"/>
              </a:rPr>
              <a:t>Bootstrap</a:t>
            </a:r>
            <a:r>
              <a:rPr lang="en-US" sz="1800" dirty="0">
                <a:effectLst/>
                <a:latin typeface="Times New Roman" panose="02020603050405020304" pitchFamily="18" charset="0"/>
                <a:ea typeface="Calibri" panose="020F0502020204030204" pitchFamily="34" charset="0"/>
                <a:cs typeface="Tunga" panose="020B0502040204020203" pitchFamily="34" charset="0"/>
              </a:rPr>
              <a:t> </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Back End 				:         MYSQL, PHP</a:t>
            </a:r>
            <a:endParaRPr lang="en-IN" sz="18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lgn="just">
              <a:lnSpc>
                <a:spcPct val="150000"/>
              </a:lnSpc>
              <a:spcAft>
                <a:spcPts val="800"/>
              </a:spcAft>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unga" panose="020B0502040204020203" pitchFamily="34" charset="0"/>
              </a:rPr>
              <a:t>Operating System   		:         Windows 11 </a:t>
            </a:r>
          </a:p>
          <a:p>
            <a:pPr marL="342900" lvl="0" indent="-342900" algn="just">
              <a:lnSpc>
                <a:spcPct val="150000"/>
              </a:lnSpc>
              <a:spcAft>
                <a:spcPts val="800"/>
              </a:spcAft>
              <a:buFont typeface="Wingdings" panose="05000000000000000000" pitchFamily="2" charset="2"/>
              <a:buChar char=""/>
            </a:pPr>
            <a:endParaRPr lang="en-IN" sz="1800" dirty="0">
              <a:effectLst/>
              <a:latin typeface="Calibri" panose="020F0502020204030204" pitchFamily="34" charset="0"/>
              <a:ea typeface="Calibri" panose="020F0502020204030204" pitchFamily="34" charset="0"/>
              <a:cs typeface="Tunga"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225214"/>
            <a:ext cx="7955280" cy="1293028"/>
          </a:xfrm>
        </p:spPr>
        <p:txBody>
          <a:bodyPr/>
          <a:lstStyle/>
          <a:p>
            <a:pPr algn="ctr"/>
            <a:r>
              <a:rPr b="1" dirty="0">
                <a:solidFill>
                  <a:srgbClr val="00B0F0"/>
                </a:solidFill>
                <a:latin typeface="Arial Black" panose="020B0A04020102020204" pitchFamily="34" charset="0"/>
              </a:rPr>
              <a:t>Modules</a:t>
            </a:r>
          </a:p>
        </p:txBody>
      </p:sp>
      <p:sp>
        <p:nvSpPr>
          <p:cNvPr id="3" name="Content Placeholder 2"/>
          <p:cNvSpPr>
            <a:spLocks noGrp="1"/>
          </p:cNvSpPr>
          <p:nvPr>
            <p:ph idx="1"/>
          </p:nvPr>
        </p:nvSpPr>
        <p:spPr>
          <a:xfrm>
            <a:off x="594360" y="1350264"/>
            <a:ext cx="8092440" cy="4904232"/>
          </a:xfrm>
        </p:spPr>
        <p:txBody>
          <a:bodyPr>
            <a:normAutofit/>
          </a:bodyPr>
          <a:lstStyle/>
          <a:p>
            <a:pPr algn="just">
              <a:lnSpc>
                <a:spcPct val="150000"/>
              </a:lnSpc>
              <a:spcAft>
                <a:spcPts val="1000"/>
              </a:spcAft>
              <a:buNone/>
            </a:pPr>
            <a:r>
              <a:rPr lang="en-US" sz="2000" b="1" u="sng" dirty="0">
                <a:effectLst/>
                <a:latin typeface="Times New Roman" panose="02020603050405020304" pitchFamily="18" charset="0"/>
                <a:ea typeface="Times New Roman" panose="02020603050405020304" pitchFamily="18" charset="0"/>
              </a:rPr>
              <a:t>Administration Module: </a:t>
            </a:r>
            <a:r>
              <a:rPr lang="en-US" sz="2000" dirty="0">
                <a:effectLst/>
                <a:latin typeface="Times New Roman" panose="02020603050405020304" pitchFamily="18" charset="0"/>
                <a:ea typeface="Times New Roman" panose="02020603050405020304" pitchFamily="18" charset="0"/>
              </a:rPr>
              <a:t>The webpage or the network may be run by library professionals on voluntary basis. Role of Administrative body will include:</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spcAft>
                <a:spcPts val="1000"/>
              </a:spcAft>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Maintenance of Webpage</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Delete users</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buFont typeface="Symbol" panose="05050102010706020507" pitchFamily="18" charset="2"/>
              <a:buChar char=""/>
            </a:pPr>
            <a:r>
              <a:rPr lang="en-US" sz="2000" dirty="0" err="1">
                <a:effectLst/>
                <a:latin typeface="Times New Roman" panose="02020603050405020304" pitchFamily="18" charset="0"/>
                <a:ea typeface="Times New Roman" panose="02020603050405020304" pitchFamily="18" charset="0"/>
              </a:rPr>
              <a:t>Organising</a:t>
            </a:r>
            <a:r>
              <a:rPr lang="en-US" sz="2000" dirty="0">
                <a:effectLst/>
                <a:latin typeface="Times New Roman" panose="02020603050405020304" pitchFamily="18" charset="0"/>
                <a:ea typeface="Times New Roman" panose="02020603050405020304" pitchFamily="18" charset="0"/>
              </a:rPr>
              <a:t> awareness </a:t>
            </a:r>
            <a:r>
              <a:rPr lang="en-US" sz="2000" dirty="0" err="1">
                <a:effectLst/>
                <a:latin typeface="Times New Roman" panose="02020603050405020304" pitchFamily="18" charset="0"/>
                <a:ea typeface="Times New Roman" panose="02020603050405020304" pitchFamily="18" charset="0"/>
              </a:rPr>
              <a:t>Programmes</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Maintenance of donors’ profile, receivers’ profile, document profile, etc.</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Managing feedback and take actions as required</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80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Report generation</a:t>
            </a:r>
            <a:endParaRPr lang="en-IN" sz="2000" dirty="0">
              <a:effectLst/>
              <a:latin typeface="Times New Roman" panose="02020603050405020304" pitchFamily="18" charset="0"/>
              <a:ea typeface="Times New Roman" panose="02020603050405020304" pitchFamily="18" charset="0"/>
            </a:endParaRPr>
          </a:p>
          <a:p>
            <a:pPr marL="0" indent="0">
              <a:buNone/>
            </a:pP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905F7-E1B2-72AA-B2D4-E6A5C7E99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907AD-C47B-C551-8E72-49119082DC0C}"/>
              </a:ext>
            </a:extLst>
          </p:cNvPr>
          <p:cNvSpPr>
            <a:spLocks noGrp="1"/>
          </p:cNvSpPr>
          <p:nvPr>
            <p:ph type="title"/>
          </p:nvPr>
        </p:nvSpPr>
        <p:spPr>
          <a:xfrm>
            <a:off x="594360" y="87378"/>
            <a:ext cx="7955280" cy="1293028"/>
          </a:xfrm>
        </p:spPr>
        <p:txBody>
          <a:bodyPr/>
          <a:lstStyle/>
          <a:p>
            <a:pPr algn="ctr"/>
            <a:r>
              <a:rPr b="1" dirty="0">
                <a:solidFill>
                  <a:srgbClr val="00B0F0"/>
                </a:solidFill>
                <a:latin typeface="Arial Black" panose="020B0A04020102020204" pitchFamily="34" charset="0"/>
              </a:rPr>
              <a:t>Modules</a:t>
            </a:r>
          </a:p>
        </p:txBody>
      </p:sp>
      <p:sp>
        <p:nvSpPr>
          <p:cNvPr id="3" name="Content Placeholder 2">
            <a:extLst>
              <a:ext uri="{FF2B5EF4-FFF2-40B4-BE49-F238E27FC236}">
                <a16:creationId xmlns:a16="http://schemas.microsoft.com/office/drawing/2014/main" id="{4352272B-3E2E-3AC4-B56A-082DC7BF34AD}"/>
              </a:ext>
            </a:extLst>
          </p:cNvPr>
          <p:cNvSpPr>
            <a:spLocks noGrp="1"/>
          </p:cNvSpPr>
          <p:nvPr>
            <p:ph idx="1"/>
          </p:nvPr>
        </p:nvSpPr>
        <p:spPr>
          <a:xfrm>
            <a:off x="594360" y="1179576"/>
            <a:ext cx="7955280" cy="5428488"/>
          </a:xfrm>
        </p:spPr>
        <p:txBody>
          <a:bodyPr>
            <a:normAutofit lnSpcReduction="10000"/>
          </a:bodyPr>
          <a:lstStyle/>
          <a:p>
            <a:pPr algn="just">
              <a:lnSpc>
                <a:spcPct val="150000"/>
              </a:lnSpc>
              <a:buNone/>
            </a:pPr>
            <a:r>
              <a:rPr lang="en-US" sz="1800" b="1" u="sng" dirty="0">
                <a:effectLst/>
                <a:latin typeface="Times New Roman" panose="02020603050405020304" pitchFamily="18" charset="0"/>
                <a:ea typeface="Times New Roman" panose="02020603050405020304" pitchFamily="18" charset="0"/>
              </a:rPr>
              <a:t>Donors’ Module</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Every new donor must get registered himself/herself and receive User ID &amp; Password for getting access to the web page.</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b="1" dirty="0">
                <a:effectLst/>
                <a:latin typeface="Times New Roman" panose="02020603050405020304" pitchFamily="18" charset="0"/>
                <a:ea typeface="Times New Roman" panose="02020603050405020304" pitchFamily="18" charset="0"/>
              </a:rPr>
              <a:t>Functional Requirements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User Registration:</a:t>
            </a:r>
            <a:r>
              <a:rPr lang="en-US" sz="1800" dirty="0">
                <a:effectLst/>
                <a:latin typeface="Times New Roman" panose="02020603050405020304" pitchFamily="18" charset="0"/>
                <a:ea typeface="Times New Roman" panose="02020603050405020304" pitchFamily="18" charset="0"/>
              </a:rPr>
              <a:t> Donors and recipients need to create accounts.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Book Donation:</a:t>
            </a:r>
            <a:r>
              <a:rPr lang="en-US" sz="1800" dirty="0">
                <a:effectLst/>
                <a:latin typeface="Times New Roman" panose="02020603050405020304" pitchFamily="18" charset="0"/>
                <a:ea typeface="Times New Roman" panose="02020603050405020304" pitchFamily="18" charset="0"/>
              </a:rPr>
              <a:t> Donors can add books to the system by providing details like book title, author, condition, and category.</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Recipient Search:</a:t>
            </a:r>
            <a:r>
              <a:rPr lang="en-US" sz="1800" dirty="0">
                <a:effectLst/>
                <a:latin typeface="Times New Roman" panose="02020603050405020304" pitchFamily="18" charset="0"/>
                <a:ea typeface="Times New Roman" panose="02020603050405020304" pitchFamily="18" charset="0"/>
              </a:rPr>
              <a:t> Recipients can search for available books based on criteria such as category, author, and location.</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Donation Confirmation:</a:t>
            </a:r>
            <a:r>
              <a:rPr lang="en-US" sz="1800" dirty="0">
                <a:effectLst/>
                <a:latin typeface="Times New Roman" panose="02020603050405020304" pitchFamily="18" charset="0"/>
                <a:ea typeface="Times New Roman" panose="02020603050405020304" pitchFamily="18" charset="0"/>
              </a:rPr>
              <a:t> Once a donation is made, the system confirms the receipt of the book and updates the database.</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Book Tracking:</a:t>
            </a:r>
            <a:r>
              <a:rPr lang="en-US" sz="1800" dirty="0">
                <a:effectLst/>
                <a:latin typeface="Times New Roman" panose="02020603050405020304" pitchFamily="18" charset="0"/>
                <a:ea typeface="Times New Roman" panose="02020603050405020304" pitchFamily="18" charset="0"/>
              </a:rPr>
              <a:t> The system tracks the status of donated books (pending, in progress, delivered).</a:t>
            </a:r>
            <a:endParaRPr lang="en-IN" sz="1800" dirty="0">
              <a:effectLst/>
              <a:latin typeface="Times New Roman" panose="02020603050405020304" pitchFamily="18" charset="0"/>
              <a:ea typeface="Times New Roman" panose="02020603050405020304" pitchFamily="18" charset="0"/>
            </a:endParaRPr>
          </a:p>
          <a:p>
            <a:pPr marL="0" indent="0">
              <a:buNone/>
            </a:pPr>
            <a:endParaRPr sz="2400" dirty="0"/>
          </a:p>
        </p:txBody>
      </p:sp>
    </p:spTree>
    <p:extLst>
      <p:ext uri="{BB962C8B-B14F-4D97-AF65-F5344CB8AC3E}">
        <p14:creationId xmlns:p14="http://schemas.microsoft.com/office/powerpoint/2010/main" val="339078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203541"/>
            <a:ext cx="7955280" cy="747435"/>
          </a:xfrm>
        </p:spPr>
        <p:txBody>
          <a:bodyPr>
            <a:normAutofit/>
          </a:bodyPr>
          <a:lstStyle/>
          <a:p>
            <a:r>
              <a:rPr lang="en-US" sz="2800" b="1" dirty="0">
                <a:solidFill>
                  <a:srgbClr val="00B0F0"/>
                </a:solidFill>
                <a:effectLst/>
                <a:latin typeface="Arial Black" panose="020B0A04020102020204" pitchFamily="34" charset="0"/>
                <a:ea typeface="Times New Roman" panose="02020603050405020304" pitchFamily="18" charset="0"/>
              </a:rPr>
              <a:t>SYSTEM ARCHITECTURE</a:t>
            </a:r>
            <a:endParaRPr sz="5400" dirty="0">
              <a:solidFill>
                <a:srgbClr val="00B0F0"/>
              </a:solidFill>
              <a:latin typeface="Arial Black" panose="020B0A04020102020204" pitchFamily="34" charset="0"/>
            </a:endParaRPr>
          </a:p>
        </p:txBody>
      </p:sp>
      <p:sp>
        <p:nvSpPr>
          <p:cNvPr id="3" name="Content Placeholder 2"/>
          <p:cNvSpPr>
            <a:spLocks noGrp="1"/>
          </p:cNvSpPr>
          <p:nvPr>
            <p:ph idx="1"/>
          </p:nvPr>
        </p:nvSpPr>
        <p:spPr>
          <a:xfrm>
            <a:off x="594360" y="950976"/>
            <a:ext cx="7955280" cy="5608320"/>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The system follows a client-server architecture. The client-side is the user interface, where users can interact with the system to donate or receive books. The server handles the processing of data and communication with the database. The database stores information related to users, books, donations, and recipients.</a:t>
            </a:r>
            <a:endParaRPr lang="en-IN" sz="2400" dirty="0">
              <a:effectLst/>
              <a:latin typeface="Times New Roman" panose="02020603050405020304" pitchFamily="18" charset="0"/>
              <a:ea typeface="Times New Roman" panose="02020603050405020304" pitchFamily="18" charset="0"/>
            </a:endParaRPr>
          </a:p>
          <a:p>
            <a:pPr marL="0" indent="0" algn="just">
              <a:buNone/>
            </a:pPr>
            <a:r>
              <a:rPr lang="en-US" sz="2400" b="1" dirty="0">
                <a:effectLst/>
                <a:latin typeface="Times New Roman" panose="02020603050405020304" pitchFamily="18" charset="0"/>
                <a:ea typeface="Times New Roman" panose="02020603050405020304" pitchFamily="18" charset="0"/>
              </a:rPr>
              <a:t>ER (Entity-Relationship) Diagram </a:t>
            </a:r>
          </a:p>
          <a:p>
            <a:pPr algn="just"/>
            <a:r>
              <a:rPr lang="en-US" sz="2400" dirty="0">
                <a:effectLst/>
                <a:latin typeface="Times New Roman" panose="02020603050405020304" pitchFamily="18" charset="0"/>
                <a:ea typeface="Times New Roman" panose="02020603050405020304" pitchFamily="18" charset="0"/>
              </a:rPr>
              <a:t>ER (Entity-Relationship) Diagram for the Book Donation Management System that captures the main entities and their relationships. The entities involved typically include Users, Books, Donations, and Recipients. I'll describe the diagram in a structured way, which you can then use to create the actual ER diagram visually using a tool like draw.io, </a:t>
            </a:r>
            <a:r>
              <a:rPr lang="en-US" sz="2400" dirty="0" err="1">
                <a:effectLst/>
                <a:latin typeface="Times New Roman" panose="02020603050405020304" pitchFamily="18" charset="0"/>
                <a:ea typeface="Times New Roman" panose="02020603050405020304" pitchFamily="18" charset="0"/>
              </a:rPr>
              <a:t>Lucidchart</a:t>
            </a:r>
            <a:r>
              <a:rPr lang="en-US" sz="2400" dirty="0">
                <a:effectLst/>
                <a:latin typeface="Times New Roman" panose="02020603050405020304" pitchFamily="18" charset="0"/>
                <a:ea typeface="Times New Roman" panose="02020603050405020304" pitchFamily="18" charset="0"/>
              </a:rPr>
              <a:t>, or any other ER diagram tool</a:t>
            </a:r>
            <a:endParaRPr lang="en-IN"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A408D-8483-28EC-CE5C-65B4BA7A4D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8E6002D-0DA1-8CB4-FC10-98E0583B5D62}"/>
              </a:ext>
            </a:extLst>
          </p:cNvPr>
          <p:cNvPicPr>
            <a:picLocks noChangeAspect="1"/>
          </p:cNvPicPr>
          <p:nvPr/>
        </p:nvPicPr>
        <p:blipFill>
          <a:blip r:embed="rId2"/>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6CD88F0B-1B1E-B1A2-DDBD-E7BD2B0D132A}"/>
              </a:ext>
            </a:extLst>
          </p:cNvPr>
          <p:cNvSpPr>
            <a:spLocks noGrp="1"/>
          </p:cNvSpPr>
          <p:nvPr>
            <p:ph type="title"/>
          </p:nvPr>
        </p:nvSpPr>
        <p:spPr>
          <a:xfrm>
            <a:off x="243840" y="5827775"/>
            <a:ext cx="1859280" cy="571163"/>
          </a:xfrm>
        </p:spPr>
        <p:txBody>
          <a:bodyPr>
            <a:noAutofit/>
          </a:bodyPr>
          <a:lstStyle/>
          <a:p>
            <a:pPr algn="ctr"/>
            <a:r>
              <a:rPr lang="en-US" sz="1400" b="1" dirty="0">
                <a:solidFill>
                  <a:srgbClr val="FF0000"/>
                </a:solidFill>
                <a:effectLst/>
                <a:latin typeface="Arial Black" panose="020B0A04020102020204" pitchFamily="34" charset="0"/>
                <a:ea typeface="Times New Roman" panose="02020603050405020304" pitchFamily="18" charset="0"/>
              </a:rPr>
              <a:t>SYSTEM ARCHITECTURE</a:t>
            </a:r>
            <a:endParaRPr sz="3200" b="1"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193011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56DD-7B2D-9FF8-B331-48446E2BEC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65C74-1CA6-AF1D-29BF-02785FC602E2}"/>
              </a:ext>
            </a:extLst>
          </p:cNvPr>
          <p:cNvSpPr>
            <a:spLocks noGrp="1"/>
          </p:cNvSpPr>
          <p:nvPr>
            <p:ph idx="1"/>
          </p:nvPr>
        </p:nvSpPr>
        <p:spPr>
          <a:xfrm>
            <a:off x="594360" y="185195"/>
            <a:ext cx="7955280" cy="6516547"/>
          </a:xfrm>
        </p:spPr>
        <p:txBody>
          <a:bodyPr>
            <a:normAutofit lnSpcReduction="10000"/>
          </a:bodyPr>
          <a:lstStyle/>
          <a:p>
            <a:pPr marL="0" indent="0" algn="r">
              <a:buNone/>
            </a:pPr>
            <a:r>
              <a:rPr lang="en-US" sz="2800" b="1" dirty="0">
                <a:solidFill>
                  <a:srgbClr val="00B0F0"/>
                </a:solidFill>
                <a:effectLst/>
                <a:latin typeface="Arial Black" panose="020B0A04020102020204" pitchFamily="34" charset="0"/>
                <a:ea typeface="Times New Roman" panose="02020603050405020304" pitchFamily="18" charset="0"/>
              </a:rPr>
              <a:t>Entities and Relationships</a:t>
            </a:r>
          </a:p>
          <a:p>
            <a:pPr marL="342900" lvl="0" indent="-342900" algn="just">
              <a:lnSpc>
                <a:spcPct val="150000"/>
              </a:lnSpc>
              <a:buFont typeface="+mj-lt"/>
              <a:buAutoNum type="arabicPeriod"/>
              <a:tabLst>
                <a:tab pos="457200" algn="l"/>
              </a:tabLst>
            </a:pPr>
            <a:r>
              <a:rPr lang="en-US" sz="1500" b="1" u="sng" dirty="0">
                <a:effectLst/>
                <a:latin typeface="Arial Black" panose="020B0A04020102020204" pitchFamily="34" charset="0"/>
                <a:ea typeface="Times New Roman" panose="02020603050405020304" pitchFamily="18" charset="0"/>
              </a:rPr>
              <a:t>User</a:t>
            </a:r>
            <a:endParaRPr lang="en-IN" sz="1500" b="1" u="sng" dirty="0">
              <a:effectLst/>
              <a:latin typeface="Arial Black" panose="020B0A04020102020204" pitchFamily="34" charset="0"/>
              <a:ea typeface="Times New Roman" panose="02020603050405020304" pitchFamily="18" charset="0"/>
            </a:endParaRPr>
          </a:p>
          <a:p>
            <a:pPr marL="742950" lvl="1" indent="-285750" algn="just">
              <a:lnSpc>
                <a:spcPct val="12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UserID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Name, Email, Password,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UserType</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(Donor/Recipient)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2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Relationships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lnSpc>
                <a:spcPct val="12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User</a:t>
            </a:r>
            <a:r>
              <a:rPr lang="en-US" sz="1200" dirty="0">
                <a:effectLst/>
                <a:latin typeface="Times New Roman" panose="02020603050405020304" pitchFamily="18" charset="0"/>
                <a:ea typeface="Times New Roman" panose="02020603050405020304" pitchFamily="18" charset="0"/>
              </a:rPr>
              <a:t> can make </a:t>
            </a:r>
            <a:r>
              <a:rPr lang="en-US" sz="1200" b="1" dirty="0">
                <a:effectLst/>
                <a:latin typeface="Times New Roman" panose="02020603050405020304" pitchFamily="18" charset="0"/>
                <a:ea typeface="Times New Roman" panose="02020603050405020304" pitchFamily="18" charset="0"/>
              </a:rPr>
              <a:t>Donations</a:t>
            </a:r>
            <a:r>
              <a:rPr lang="en-US" sz="1200" dirty="0">
                <a:effectLst/>
                <a:latin typeface="Times New Roman" panose="02020603050405020304" pitchFamily="18" charset="0"/>
                <a:ea typeface="Times New Roman" panose="02020603050405020304" pitchFamily="18" charset="0"/>
              </a:rPr>
              <a:t> (for Donors).</a:t>
            </a:r>
            <a:endParaRPr lang="en-IN" sz="1200" dirty="0">
              <a:effectLst/>
              <a:latin typeface="Times New Roman" panose="02020603050405020304" pitchFamily="18" charset="0"/>
              <a:ea typeface="Times New Roman" panose="02020603050405020304" pitchFamily="18" charset="0"/>
            </a:endParaRPr>
          </a:p>
          <a:p>
            <a:pPr marL="1143000" lvl="2" indent="-228600" algn="just">
              <a:lnSpc>
                <a:spcPct val="12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User</a:t>
            </a:r>
            <a:r>
              <a:rPr lang="en-US" sz="1200" dirty="0">
                <a:effectLst/>
                <a:latin typeface="Times New Roman" panose="02020603050405020304" pitchFamily="18" charset="0"/>
                <a:ea typeface="Times New Roman" panose="02020603050405020304" pitchFamily="18" charset="0"/>
              </a:rPr>
              <a:t> can request </a:t>
            </a:r>
            <a:r>
              <a:rPr lang="en-US" sz="1200" b="1" dirty="0">
                <a:effectLst/>
                <a:latin typeface="Times New Roman" panose="02020603050405020304" pitchFamily="18" charset="0"/>
                <a:ea typeface="Times New Roman" panose="02020603050405020304" pitchFamily="18" charset="0"/>
              </a:rPr>
              <a:t>Donations</a:t>
            </a:r>
            <a:r>
              <a:rPr lang="en-US" sz="1200" dirty="0">
                <a:effectLst/>
                <a:latin typeface="Times New Roman" panose="02020603050405020304" pitchFamily="18" charset="0"/>
                <a:ea typeface="Times New Roman" panose="02020603050405020304" pitchFamily="18" charset="0"/>
              </a:rPr>
              <a:t> (for Recipients).</a:t>
            </a:r>
            <a:endParaRPr lang="en-IN" sz="12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rabicPeriod"/>
              <a:tabLst>
                <a:tab pos="457200" algn="l"/>
              </a:tabLst>
            </a:pPr>
            <a:r>
              <a:rPr lang="en-US" sz="1500" b="1" u="sng" dirty="0">
                <a:effectLst/>
                <a:latin typeface="Arial Black" panose="020B0A04020102020204" pitchFamily="34" charset="0"/>
                <a:ea typeface="Times New Roman" panose="02020603050405020304" pitchFamily="18" charset="0"/>
              </a:rPr>
              <a:t>Book</a:t>
            </a:r>
            <a:endParaRPr lang="en-IN" sz="1500" u="sng" dirty="0">
              <a:effectLst/>
              <a:latin typeface="Arial Black" panose="020B0A04020102020204" pitchFamily="34" charset="0"/>
              <a:ea typeface="Times New Roman" panose="02020603050405020304" pitchFamily="18" charset="0"/>
            </a:endParaRPr>
          </a:p>
          <a:p>
            <a:pPr marL="742950" lvl="1" indent="-285750" algn="just">
              <a:lnSpc>
                <a:spcPct val="12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BookID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Title, Author, ISBN, Category, Condition,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DonorID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(FK), </a:t>
            </a:r>
          </a:p>
          <a:p>
            <a:pPr marL="742950" lvl="1" indent="-285750" algn="just">
              <a:lnSpc>
                <a:spcPct val="12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Relationships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lnSpc>
                <a:spcPct val="12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Book</a:t>
            </a:r>
            <a:r>
              <a:rPr lang="en-US" sz="1200" dirty="0">
                <a:effectLst/>
                <a:latin typeface="Times New Roman" panose="02020603050405020304" pitchFamily="18" charset="0"/>
                <a:ea typeface="Times New Roman" panose="02020603050405020304" pitchFamily="18" charset="0"/>
              </a:rPr>
              <a:t> belongs to a </a:t>
            </a:r>
            <a:r>
              <a:rPr lang="en-US" sz="1200" b="1" dirty="0">
                <a:effectLst/>
                <a:latin typeface="Times New Roman" panose="02020603050405020304" pitchFamily="18" charset="0"/>
                <a:ea typeface="Times New Roman" panose="02020603050405020304" pitchFamily="18" charset="0"/>
              </a:rPr>
              <a:t>Donor</a:t>
            </a:r>
            <a:r>
              <a:rPr lang="en-US" sz="1200" dirty="0">
                <a:effectLst/>
                <a:latin typeface="Times New Roman" panose="02020603050405020304" pitchFamily="18" charset="0"/>
                <a:ea typeface="Times New Roman" panose="02020603050405020304" pitchFamily="18" charset="0"/>
              </a:rPr>
              <a:t> (One-to-Many relationship).</a:t>
            </a:r>
            <a:endParaRPr lang="en-IN" sz="1200" dirty="0">
              <a:effectLst/>
              <a:latin typeface="Times New Roman" panose="02020603050405020304" pitchFamily="18" charset="0"/>
              <a:ea typeface="Times New Roman" panose="02020603050405020304" pitchFamily="18" charset="0"/>
            </a:endParaRPr>
          </a:p>
          <a:p>
            <a:pPr marL="1143000" lvl="2" indent="-228600" algn="just">
              <a:lnSpc>
                <a:spcPct val="12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Book</a:t>
            </a:r>
            <a:r>
              <a:rPr lang="en-US" sz="1200" dirty="0">
                <a:effectLst/>
                <a:latin typeface="Times New Roman" panose="02020603050405020304" pitchFamily="18" charset="0"/>
                <a:ea typeface="Times New Roman" panose="02020603050405020304" pitchFamily="18" charset="0"/>
              </a:rPr>
              <a:t> can be requested by a </a:t>
            </a:r>
            <a:r>
              <a:rPr lang="en-US" sz="1200" b="1" dirty="0">
                <a:effectLst/>
                <a:latin typeface="Times New Roman" panose="02020603050405020304" pitchFamily="18" charset="0"/>
                <a:ea typeface="Times New Roman" panose="02020603050405020304" pitchFamily="18" charset="0"/>
              </a:rPr>
              <a:t>Recipient</a:t>
            </a:r>
            <a:r>
              <a:rPr lang="en-US" sz="12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rabicPeriod"/>
              <a:tabLst>
                <a:tab pos="457200" algn="l"/>
              </a:tabLst>
            </a:pPr>
            <a:r>
              <a:rPr lang="en-US" sz="1500" b="1" dirty="0">
                <a:effectLst/>
                <a:latin typeface="Arial Black" panose="020B0A04020102020204" pitchFamily="34" charset="0"/>
                <a:ea typeface="Times New Roman" panose="02020603050405020304" pitchFamily="18" charset="0"/>
              </a:rPr>
              <a:t>Donation</a:t>
            </a:r>
            <a:endParaRPr lang="en-IN" sz="1500" dirty="0">
              <a:effectLst/>
              <a:latin typeface="Arial Black" panose="020B0A04020102020204" pitchFamily="34" charset="0"/>
              <a:ea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DonationID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BookID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(FK),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DonorID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(FK),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RecipientID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(FK),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DonationDate</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Status (Pending, Confirmed, Delivered)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Relationships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lnSpc>
                <a:spcPct val="15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Donation</a:t>
            </a:r>
            <a:r>
              <a:rPr lang="en-US" sz="1200" dirty="0">
                <a:effectLst/>
                <a:latin typeface="Times New Roman" panose="02020603050405020304" pitchFamily="18" charset="0"/>
                <a:ea typeface="Times New Roman" panose="02020603050405020304" pitchFamily="18" charset="0"/>
              </a:rPr>
              <a:t> involves a </a:t>
            </a:r>
            <a:r>
              <a:rPr lang="en-US" sz="1200" b="1" dirty="0">
                <a:effectLst/>
                <a:latin typeface="Times New Roman" panose="02020603050405020304" pitchFamily="18" charset="0"/>
                <a:ea typeface="Times New Roman" panose="02020603050405020304" pitchFamily="18" charset="0"/>
              </a:rPr>
              <a:t>Donor</a:t>
            </a:r>
            <a:r>
              <a:rPr lang="en-US" sz="1200" dirty="0">
                <a:effectLst/>
                <a:latin typeface="Times New Roman" panose="02020603050405020304" pitchFamily="18" charset="0"/>
                <a:ea typeface="Times New Roman" panose="02020603050405020304" pitchFamily="18" charset="0"/>
              </a:rPr>
              <a:t> and a </a:t>
            </a:r>
            <a:r>
              <a:rPr lang="en-US" sz="1200" b="1" dirty="0">
                <a:effectLst/>
                <a:latin typeface="Times New Roman" panose="02020603050405020304" pitchFamily="18" charset="0"/>
                <a:ea typeface="Times New Roman" panose="02020603050405020304" pitchFamily="18" charset="0"/>
              </a:rPr>
              <a:t>Recipient</a:t>
            </a:r>
            <a:r>
              <a:rPr lang="en-US" sz="1200" dirty="0">
                <a:effectLst/>
                <a:latin typeface="Times New Roman" panose="02020603050405020304" pitchFamily="18" charset="0"/>
                <a:ea typeface="Times New Roman" panose="02020603050405020304" pitchFamily="18" charset="0"/>
              </a:rPr>
              <a:t> (Many-to-One relationship from Donation to Donor and Recipient).</a:t>
            </a:r>
            <a:endParaRPr lang="en-IN" sz="1200" dirty="0">
              <a:effectLst/>
              <a:latin typeface="Times New Roman" panose="02020603050405020304" pitchFamily="18" charset="0"/>
              <a:ea typeface="Times New Roman" panose="02020603050405020304" pitchFamily="18" charset="0"/>
            </a:endParaRPr>
          </a:p>
          <a:p>
            <a:pPr marL="1143000" lvl="2" indent="-228600" algn="just">
              <a:lnSpc>
                <a:spcPct val="150000"/>
              </a:lnSpc>
              <a:buSzPts val="1000"/>
              <a:buFont typeface="Wingdings" panose="05000000000000000000" pitchFamily="2" charset="2"/>
              <a:buChar char=""/>
              <a:tabLst>
                <a:tab pos="1371600" algn="l"/>
              </a:tabLst>
            </a:pPr>
            <a:r>
              <a:rPr lang="en-US" sz="1200" dirty="0">
                <a:effectLst/>
                <a:latin typeface="Times New Roman" panose="02020603050405020304" pitchFamily="18" charset="0"/>
                <a:ea typeface="Times New Roman" panose="02020603050405020304" pitchFamily="18" charset="0"/>
              </a:rPr>
              <a:t>A </a:t>
            </a:r>
            <a:r>
              <a:rPr lang="en-US" sz="1200" b="1" dirty="0">
                <a:effectLst/>
                <a:latin typeface="Times New Roman" panose="02020603050405020304" pitchFamily="18" charset="0"/>
                <a:ea typeface="Times New Roman" panose="02020603050405020304" pitchFamily="18" charset="0"/>
              </a:rPr>
              <a:t>Donation</a:t>
            </a:r>
            <a:r>
              <a:rPr lang="en-US" sz="1200" dirty="0">
                <a:effectLst/>
                <a:latin typeface="Times New Roman" panose="02020603050405020304" pitchFamily="18" charset="0"/>
                <a:ea typeface="Times New Roman" panose="02020603050405020304" pitchFamily="18" charset="0"/>
              </a:rPr>
              <a:t> is linked to a </a:t>
            </a:r>
            <a:r>
              <a:rPr lang="en-US" sz="1200" b="1" dirty="0">
                <a:effectLst/>
                <a:latin typeface="Times New Roman" panose="02020603050405020304" pitchFamily="18" charset="0"/>
                <a:ea typeface="Times New Roman" panose="02020603050405020304" pitchFamily="18" charset="0"/>
              </a:rPr>
              <a:t>Book</a:t>
            </a:r>
            <a:r>
              <a:rPr lang="en-US" sz="1200" dirty="0">
                <a:effectLst/>
                <a:latin typeface="Times New Roman" panose="02020603050405020304" pitchFamily="18" charset="0"/>
                <a:ea typeface="Times New Roman" panose="02020603050405020304" pitchFamily="18" charset="0"/>
              </a:rPr>
              <a:t> (One-to-One relationship between Donation and Book).</a:t>
            </a:r>
            <a:endParaRPr lang="en-IN" sz="12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57200" algn="l"/>
              </a:tabLst>
            </a:pPr>
            <a:r>
              <a:rPr lang="en-US" sz="1500" b="1" dirty="0">
                <a:effectLst/>
                <a:latin typeface="Arial Black" panose="020B0A04020102020204" pitchFamily="34" charset="0"/>
                <a:ea typeface="Times New Roman" panose="02020603050405020304" pitchFamily="18" charset="0"/>
              </a:rPr>
              <a:t>Recipient</a:t>
            </a:r>
            <a:endParaRPr lang="en-IN" sz="1500" dirty="0">
              <a:effectLst/>
              <a:latin typeface="Arial Black" panose="020B0A04020102020204" pitchFamily="34" charset="0"/>
              <a:ea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RecipientID</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Name, Email, Address, Phone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en-IN" sz="3600" b="1" dirty="0"/>
          </a:p>
        </p:txBody>
      </p:sp>
    </p:spTree>
    <p:extLst>
      <p:ext uri="{BB962C8B-B14F-4D97-AF65-F5344CB8AC3E}">
        <p14:creationId xmlns:p14="http://schemas.microsoft.com/office/powerpoint/2010/main" val="1383518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F3BD3-5DD2-EEC5-DCA6-429BC5B6E7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33F31-865D-D978-8849-72C2ED800B94}"/>
              </a:ext>
            </a:extLst>
          </p:cNvPr>
          <p:cNvSpPr>
            <a:spLocks noGrp="1"/>
          </p:cNvSpPr>
          <p:nvPr>
            <p:ph idx="1"/>
          </p:nvPr>
        </p:nvSpPr>
        <p:spPr>
          <a:xfrm>
            <a:off x="365760" y="350520"/>
            <a:ext cx="8546592" cy="6351222"/>
          </a:xfrm>
        </p:spPr>
        <p:txBody>
          <a:bodyPr>
            <a:normAutofit lnSpcReduction="10000"/>
          </a:bodyPr>
          <a:lstStyle/>
          <a:p>
            <a:pPr algn="r">
              <a:buNone/>
            </a:pPr>
            <a:r>
              <a:rPr lang="en-US" sz="2400" b="1" dirty="0">
                <a:solidFill>
                  <a:srgbClr val="00B0F0"/>
                </a:solidFill>
                <a:effectLst/>
                <a:latin typeface="Arial Black" panose="020B0A04020102020204" pitchFamily="34" charset="0"/>
                <a:ea typeface="Times New Roman" panose="02020603050405020304" pitchFamily="18" charset="0"/>
              </a:rPr>
              <a:t>ER Diagram Description</a:t>
            </a:r>
          </a:p>
          <a:p>
            <a:pPr marL="342900" lvl="0" indent="-342900" algn="just">
              <a:lnSpc>
                <a:spcPct val="150000"/>
              </a:lnSpc>
              <a:buFont typeface="+mj-lt"/>
              <a:buAutoNum type="arabicPeriod"/>
              <a:tabLst>
                <a:tab pos="457200" algn="l"/>
              </a:tabLst>
            </a:pPr>
            <a:r>
              <a:rPr lang="en-US" sz="1800" b="1" dirty="0">
                <a:effectLst/>
                <a:latin typeface="Times New Roman" panose="02020603050405020304" pitchFamily="18" charset="0"/>
                <a:ea typeface="Times New Roman" panose="02020603050405020304" pitchFamily="18" charset="0"/>
              </a:rPr>
              <a:t>User</a:t>
            </a:r>
            <a:r>
              <a:rPr lang="en-US" sz="1800" dirty="0">
                <a:effectLst/>
                <a:latin typeface="Times New Roman" panose="02020603050405020304" pitchFamily="18" charset="0"/>
                <a:ea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rPr>
              <a:t>Donation</a:t>
            </a:r>
            <a:r>
              <a:rPr lang="en-US" sz="18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(either a Donor or a Recipient) can be involved in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Donation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If the user is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Donor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they will donate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Books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If the user is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Recipient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they will receive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Books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This is a Many-to-Many relationship, which we break down using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Donation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entity.</a:t>
            </a:r>
            <a:endParaRPr lang="en-IN" sz="12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startAt="2"/>
              <a:tabLst>
                <a:tab pos="457200" algn="l"/>
              </a:tabLst>
            </a:pPr>
            <a:r>
              <a:rPr lang="en-US" sz="1800" b="1" dirty="0">
                <a:effectLst/>
                <a:latin typeface="Times New Roman" panose="02020603050405020304" pitchFamily="18" charset="0"/>
                <a:ea typeface="Times New Roman" panose="02020603050405020304" pitchFamily="18" charset="0"/>
              </a:rPr>
              <a:t>Book</a:t>
            </a:r>
            <a:r>
              <a:rPr lang="en-US" sz="1800" dirty="0">
                <a:effectLst/>
                <a:latin typeface="Times New Roman" panose="02020603050405020304" pitchFamily="18" charset="0"/>
                <a:ea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rPr>
              <a:t>Donation</a:t>
            </a:r>
            <a:r>
              <a:rPr lang="en-US" sz="18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Book</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is donated by a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Donor</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and can be received by a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Recipient</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Each donation links a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Book</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to a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Recipient</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The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Book</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entity is connected to the </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Donation</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entity.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startAt="2"/>
              <a:tabLst>
                <a:tab pos="457200" algn="l"/>
              </a:tabLst>
            </a:pPr>
            <a:r>
              <a:rPr lang="en-US" sz="1800" b="1" dirty="0">
                <a:effectLst/>
                <a:latin typeface="Times New Roman" panose="02020603050405020304" pitchFamily="18" charset="0"/>
                <a:ea typeface="Times New Roman" panose="02020603050405020304" pitchFamily="18" charset="0"/>
              </a:rPr>
              <a:t>Book</a:t>
            </a:r>
            <a:r>
              <a:rPr lang="en-US" sz="1800" dirty="0">
                <a:effectLst/>
                <a:latin typeface="Times New Roman" panose="02020603050405020304" pitchFamily="18" charset="0"/>
                <a:ea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rPr>
              <a:t>User</a:t>
            </a:r>
            <a:r>
              <a:rPr lang="en-US" sz="18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Book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donated by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(Donor). This establishes a One-to-Many relationship between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Book</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startAt="2"/>
              <a:tabLst>
                <a:tab pos="457200" algn="l"/>
              </a:tabLst>
            </a:pPr>
            <a:r>
              <a:rPr lang="en-US" sz="1800" b="1" dirty="0">
                <a:effectLst/>
                <a:latin typeface="Times New Roman" panose="02020603050405020304" pitchFamily="18" charset="0"/>
                <a:ea typeface="Times New Roman" panose="02020603050405020304" pitchFamily="18" charset="0"/>
              </a:rPr>
              <a:t>Recipient</a:t>
            </a:r>
            <a:r>
              <a:rPr lang="en-US" sz="1800" dirty="0">
                <a:effectLst/>
                <a:latin typeface="Times New Roman" panose="02020603050405020304" pitchFamily="18" charset="0"/>
                <a:ea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rPr>
              <a:t>Donation</a:t>
            </a:r>
            <a:r>
              <a:rPr lang="en-US" sz="18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pPr lvl="1" algn="just"/>
            <a:r>
              <a:rPr lang="en-US" dirty="0">
                <a:effectLst/>
                <a:latin typeface="Times New Roman" panose="02020603050405020304" pitchFamily="18" charset="0"/>
                <a:ea typeface="Times New Roman" panose="02020603050405020304" pitchFamily="18" charset="0"/>
              </a:rPr>
              <a:t>A </a:t>
            </a:r>
            <a:r>
              <a:rPr lang="en-US" b="1" dirty="0">
                <a:effectLst/>
                <a:latin typeface="Times New Roman" panose="02020603050405020304" pitchFamily="18" charset="0"/>
                <a:ea typeface="Times New Roman" panose="02020603050405020304" pitchFamily="18" charset="0"/>
              </a:rPr>
              <a:t>Recipient</a:t>
            </a:r>
            <a:r>
              <a:rPr lang="en-US" dirty="0">
                <a:effectLst/>
                <a:latin typeface="Times New Roman" panose="02020603050405020304" pitchFamily="18" charset="0"/>
                <a:ea typeface="Times New Roman" panose="02020603050405020304" pitchFamily="18" charset="0"/>
              </a:rPr>
              <a:t> can request a </a:t>
            </a:r>
            <a:r>
              <a:rPr lang="en-US" b="1" dirty="0">
                <a:effectLst/>
                <a:latin typeface="Times New Roman" panose="02020603050405020304" pitchFamily="18" charset="0"/>
                <a:ea typeface="Times New Roman" panose="02020603050405020304" pitchFamily="18" charset="0"/>
              </a:rPr>
              <a:t>Donation</a:t>
            </a:r>
            <a:r>
              <a:rPr lang="en-US" dirty="0">
                <a:effectLst/>
                <a:latin typeface="Times New Roman" panose="02020603050405020304" pitchFamily="18" charset="0"/>
                <a:ea typeface="Times New Roman" panose="02020603050405020304" pitchFamily="18" charset="0"/>
              </a:rPr>
              <a:t>, which corresponds to receiving </a:t>
            </a:r>
            <a:r>
              <a:rPr lang="en-US" b="1" dirty="0">
                <a:effectLst/>
                <a:latin typeface="Times New Roman" panose="02020603050405020304" pitchFamily="18" charset="0"/>
                <a:ea typeface="Times New Roman" panose="02020603050405020304" pitchFamily="18" charset="0"/>
              </a:rPr>
              <a:t>Books</a:t>
            </a:r>
            <a:r>
              <a:rPr lang="en-US" dirty="0">
                <a:effectLst/>
                <a:latin typeface="Times New Roman" panose="02020603050405020304" pitchFamily="18" charset="0"/>
                <a:ea typeface="Times New Roman" panose="02020603050405020304" pitchFamily="18" charset="0"/>
              </a:rPr>
              <a:t>. This is a One-to-Many relationship.</a:t>
            </a:r>
            <a:endParaRPr lang="en-US" sz="4000" b="1" dirty="0">
              <a:solidFill>
                <a:srgbClr val="00B0F0"/>
              </a:solidFill>
              <a:effectLst/>
              <a:latin typeface="Arial Black" panose="020B0A04020102020204" pitchFamily="34" charset="0"/>
              <a:ea typeface="Times New Roman" panose="02020603050405020304" pitchFamily="18" charset="0"/>
            </a:endParaRPr>
          </a:p>
          <a:p>
            <a:pPr>
              <a:buNone/>
            </a:pPr>
            <a:endParaRPr lang="en-IN" sz="1400" b="1" dirty="0">
              <a:latin typeface="Arial Black" panose="020B0A04020102020204" pitchFamily="34" charset="0"/>
            </a:endParaRPr>
          </a:p>
        </p:txBody>
      </p:sp>
    </p:spTree>
    <p:extLst>
      <p:ext uri="{BB962C8B-B14F-4D97-AF65-F5344CB8AC3E}">
        <p14:creationId xmlns:p14="http://schemas.microsoft.com/office/powerpoint/2010/main" val="23675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AA6A6-7477-4443-A76E-C9BDEEC5E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9CE5C-B091-67AC-AFF3-B8975BAFA434}"/>
              </a:ext>
            </a:extLst>
          </p:cNvPr>
          <p:cNvSpPr>
            <a:spLocks noGrp="1"/>
          </p:cNvSpPr>
          <p:nvPr>
            <p:ph type="title"/>
          </p:nvPr>
        </p:nvSpPr>
        <p:spPr>
          <a:xfrm>
            <a:off x="613015" y="407082"/>
            <a:ext cx="7955280" cy="747435"/>
          </a:xfrm>
        </p:spPr>
        <p:txBody>
          <a:bodyPr>
            <a:normAutofit/>
          </a:bodyPr>
          <a:lstStyle/>
          <a:p>
            <a:r>
              <a:rPr lang="en-US" sz="2000" b="1" dirty="0">
                <a:solidFill>
                  <a:srgbClr val="00B0F0"/>
                </a:solidFill>
                <a:effectLst/>
                <a:latin typeface="Arial Black" panose="020B0A04020102020204" pitchFamily="34" charset="0"/>
                <a:ea typeface="Times New Roman" panose="02020603050405020304" pitchFamily="18" charset="0"/>
              </a:rPr>
              <a:t>ER Diagram (Textual Representation)</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5" name="Picture 4">
            <a:extLst>
              <a:ext uri="{FF2B5EF4-FFF2-40B4-BE49-F238E27FC236}">
                <a16:creationId xmlns:a16="http://schemas.microsoft.com/office/drawing/2014/main" id="{225E4966-3412-695C-9347-923BE3AA5339}"/>
              </a:ext>
            </a:extLst>
          </p:cNvPr>
          <p:cNvPicPr>
            <a:picLocks noChangeAspect="1"/>
          </p:cNvPicPr>
          <p:nvPr/>
        </p:nvPicPr>
        <p:blipFill>
          <a:blip r:embed="rId2"/>
          <a:stretch>
            <a:fillRect/>
          </a:stretch>
        </p:blipFill>
        <p:spPr>
          <a:xfrm>
            <a:off x="575705" y="1313773"/>
            <a:ext cx="7992590" cy="5333915"/>
          </a:xfrm>
          <a:prstGeom prst="rect">
            <a:avLst/>
          </a:prstGeom>
        </p:spPr>
      </p:pic>
    </p:spTree>
    <p:extLst>
      <p:ext uri="{BB962C8B-B14F-4D97-AF65-F5344CB8AC3E}">
        <p14:creationId xmlns:p14="http://schemas.microsoft.com/office/powerpoint/2010/main" val="1640910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D73F-5BB8-7329-788D-B304F3339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47087-6CE0-E3B0-85A0-65392998042A}"/>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3" name="Picture 2">
            <a:extLst>
              <a:ext uri="{FF2B5EF4-FFF2-40B4-BE49-F238E27FC236}">
                <a16:creationId xmlns:a16="http://schemas.microsoft.com/office/drawing/2014/main" id="{EB9394CF-96F3-7F16-F974-484ADA85E05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2739"/>
          <a:stretch/>
        </p:blipFill>
        <p:spPr bwMode="auto">
          <a:xfrm>
            <a:off x="182880" y="518043"/>
            <a:ext cx="8778240" cy="3014106"/>
          </a:xfrm>
          <a:prstGeom prst="rect">
            <a:avLst/>
          </a:prstGeom>
          <a:noFill/>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3CD9AE8C-ED46-983D-4435-1A54E11AF17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 b="1511"/>
          <a:stretch/>
        </p:blipFill>
        <p:spPr bwMode="auto">
          <a:xfrm>
            <a:off x="182880" y="3619500"/>
            <a:ext cx="8778240" cy="301410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85300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4926A-4F48-A2CD-9A27-D7593F83D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E2E87-8652-AC53-7B0D-50466C1353F7}"/>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5" name="Picture 4">
            <a:extLst>
              <a:ext uri="{FF2B5EF4-FFF2-40B4-BE49-F238E27FC236}">
                <a16:creationId xmlns:a16="http://schemas.microsoft.com/office/drawing/2014/main" id="{7440819D-D7C4-850F-4670-DA9549CABD6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831"/>
          <a:stretch/>
        </p:blipFill>
        <p:spPr bwMode="auto">
          <a:xfrm>
            <a:off x="182880" y="518043"/>
            <a:ext cx="8778240" cy="3014106"/>
          </a:xfrm>
          <a:prstGeom prst="rect">
            <a:avLst/>
          </a:prstGeom>
          <a:noFill/>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372BC094-1442-A5C0-1C9E-D2ED6632F1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 y="3707764"/>
            <a:ext cx="8778240" cy="3014105"/>
          </a:xfrm>
          <a:prstGeom prst="rect">
            <a:avLst/>
          </a:prstGeom>
          <a:noFill/>
          <a:ln>
            <a:noFill/>
          </a:ln>
        </p:spPr>
      </p:pic>
    </p:spTree>
    <p:extLst>
      <p:ext uri="{BB962C8B-B14F-4D97-AF65-F5344CB8AC3E}">
        <p14:creationId xmlns:p14="http://schemas.microsoft.com/office/powerpoint/2010/main" val="3413603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2F472-593B-FFCB-BC71-D5FDC5F189B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C706D0E-53C0-02C6-8265-680847C878D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 y="518043"/>
            <a:ext cx="8778240" cy="3014106"/>
          </a:xfrm>
          <a:prstGeom prst="rect">
            <a:avLst/>
          </a:prstGeom>
          <a:noFill/>
          <a:ln>
            <a:noFill/>
          </a:ln>
        </p:spPr>
      </p:pic>
      <p:sp>
        <p:nvSpPr>
          <p:cNvPr id="2" name="Title 1">
            <a:extLst>
              <a:ext uri="{FF2B5EF4-FFF2-40B4-BE49-F238E27FC236}">
                <a16:creationId xmlns:a16="http://schemas.microsoft.com/office/drawing/2014/main" id="{309AE0A7-0E48-9301-299A-C34018B9AA9F}"/>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4" name="Picture 3">
            <a:extLst>
              <a:ext uri="{FF2B5EF4-FFF2-40B4-BE49-F238E27FC236}">
                <a16:creationId xmlns:a16="http://schemas.microsoft.com/office/drawing/2014/main" id="{40D5C54C-C2E0-C616-5103-9819A5DA376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 y="3672840"/>
            <a:ext cx="8778240" cy="3014106"/>
          </a:xfrm>
          <a:prstGeom prst="rect">
            <a:avLst/>
          </a:prstGeom>
          <a:noFill/>
          <a:ln>
            <a:noFill/>
          </a:ln>
        </p:spPr>
      </p:pic>
    </p:spTree>
    <p:extLst>
      <p:ext uri="{BB962C8B-B14F-4D97-AF65-F5344CB8AC3E}">
        <p14:creationId xmlns:p14="http://schemas.microsoft.com/office/powerpoint/2010/main" val="2121825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6771-0106-F57D-4CE1-BE35FB9CCB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BD7745-27EC-5C66-F217-1363AA19D0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182880" y="544991"/>
            <a:ext cx="8778240" cy="2987157"/>
          </a:xfrm>
          <a:prstGeom prst="rect">
            <a:avLst/>
          </a:prstGeom>
          <a:noFill/>
          <a:ln>
            <a:noFill/>
          </a:ln>
          <a:extLst>
            <a:ext uri="{53640926-AAD7-44D8-BBD7-CCE9431645EC}">
              <a14:shadowObscured xmlns:a14="http://schemas.microsoft.com/office/drawing/2010/main"/>
            </a:ext>
          </a:extLst>
        </p:spPr>
      </p:pic>
      <p:sp>
        <p:nvSpPr>
          <p:cNvPr id="2" name="Title 1">
            <a:extLst>
              <a:ext uri="{FF2B5EF4-FFF2-40B4-BE49-F238E27FC236}">
                <a16:creationId xmlns:a16="http://schemas.microsoft.com/office/drawing/2014/main" id="{CC294D1F-47A1-D5D9-1715-7985D5B76513}"/>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6" name="Picture 5">
            <a:extLst>
              <a:ext uri="{FF2B5EF4-FFF2-40B4-BE49-F238E27FC236}">
                <a16:creationId xmlns:a16="http://schemas.microsoft.com/office/drawing/2014/main" id="{5C15D2F0-8D1A-89D7-AB5E-0DBD08140A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 y="3728402"/>
            <a:ext cx="8778240" cy="2987157"/>
          </a:xfrm>
          <a:prstGeom prst="rect">
            <a:avLst/>
          </a:prstGeom>
          <a:noFill/>
          <a:ln>
            <a:noFill/>
          </a:ln>
        </p:spPr>
      </p:pic>
    </p:spTree>
    <p:extLst>
      <p:ext uri="{BB962C8B-B14F-4D97-AF65-F5344CB8AC3E}">
        <p14:creationId xmlns:p14="http://schemas.microsoft.com/office/powerpoint/2010/main" val="4261818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6EB4-FF0B-4548-EB7A-893F894600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91710B-586D-F4C6-82FA-31CFC1CF425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 y="602932"/>
            <a:ext cx="8778240" cy="2929216"/>
          </a:xfrm>
          <a:prstGeom prst="rect">
            <a:avLst/>
          </a:prstGeom>
          <a:noFill/>
          <a:ln>
            <a:noFill/>
          </a:ln>
        </p:spPr>
      </p:pic>
      <p:sp>
        <p:nvSpPr>
          <p:cNvPr id="2" name="Title 1">
            <a:extLst>
              <a:ext uri="{FF2B5EF4-FFF2-40B4-BE49-F238E27FC236}">
                <a16:creationId xmlns:a16="http://schemas.microsoft.com/office/drawing/2014/main" id="{20F9E026-909D-1C35-0A98-8862A10F0D06}"/>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4" name="Picture 3">
            <a:extLst>
              <a:ext uri="{FF2B5EF4-FFF2-40B4-BE49-F238E27FC236}">
                <a16:creationId xmlns:a16="http://schemas.microsoft.com/office/drawing/2014/main" id="{3CE3D8AA-3D55-82E3-9B13-E6B4C14018C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 y="3659188"/>
            <a:ext cx="8778240" cy="3092132"/>
          </a:xfrm>
          <a:prstGeom prst="rect">
            <a:avLst/>
          </a:prstGeom>
          <a:noFill/>
          <a:ln>
            <a:noFill/>
          </a:ln>
        </p:spPr>
      </p:pic>
    </p:spTree>
    <p:extLst>
      <p:ext uri="{BB962C8B-B14F-4D97-AF65-F5344CB8AC3E}">
        <p14:creationId xmlns:p14="http://schemas.microsoft.com/office/powerpoint/2010/main" val="4252196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5B3F4-0B66-710A-8DD0-0478E0986B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5B7A4C-56AF-633B-1C4F-43B30463197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 y="602932"/>
            <a:ext cx="8778240" cy="2929216"/>
          </a:xfrm>
          <a:prstGeom prst="rect">
            <a:avLst/>
          </a:prstGeom>
          <a:noFill/>
          <a:ln>
            <a:noFill/>
          </a:ln>
        </p:spPr>
      </p:pic>
      <p:sp>
        <p:nvSpPr>
          <p:cNvPr id="2" name="Title 1">
            <a:extLst>
              <a:ext uri="{FF2B5EF4-FFF2-40B4-BE49-F238E27FC236}">
                <a16:creationId xmlns:a16="http://schemas.microsoft.com/office/drawing/2014/main" id="{D1B84E85-836B-466C-520B-AEF089CEFA55}"/>
              </a:ext>
            </a:extLst>
          </p:cNvPr>
          <p:cNvSpPr>
            <a:spLocks noGrp="1"/>
          </p:cNvSpPr>
          <p:nvPr>
            <p:ph type="title"/>
          </p:nvPr>
        </p:nvSpPr>
        <p:spPr>
          <a:xfrm>
            <a:off x="2031876" y="-4206"/>
            <a:ext cx="7955280" cy="747435"/>
          </a:xfrm>
        </p:spPr>
        <p:txBody>
          <a:bodyPr>
            <a:normAutofit/>
          </a:bodyPr>
          <a:lstStyle/>
          <a:p>
            <a:pPr algn="ctr"/>
            <a:r>
              <a:rPr lang="en-US" sz="2000" b="1" dirty="0">
                <a:solidFill>
                  <a:srgbClr val="00B0F0"/>
                </a:solidFill>
                <a:latin typeface="Arial Black" panose="020B0A04020102020204" pitchFamily="34" charset="0"/>
                <a:ea typeface="Times New Roman" panose="02020603050405020304" pitchFamily="18" charset="0"/>
              </a:rPr>
              <a:t>Screen shots</a:t>
            </a:r>
            <a:endParaRPr lang="en-IN" sz="2000" b="1" dirty="0">
              <a:solidFill>
                <a:srgbClr val="00B0F0"/>
              </a:solidFill>
              <a:effectLst/>
              <a:latin typeface="Arial Black" panose="020B0A04020102020204" pitchFamily="34" charset="0"/>
              <a:ea typeface="Times New Roman" panose="02020603050405020304" pitchFamily="18" charset="0"/>
            </a:endParaRPr>
          </a:p>
        </p:txBody>
      </p:sp>
      <p:pic>
        <p:nvPicPr>
          <p:cNvPr id="6" name="Picture 5">
            <a:extLst>
              <a:ext uri="{FF2B5EF4-FFF2-40B4-BE49-F238E27FC236}">
                <a16:creationId xmlns:a16="http://schemas.microsoft.com/office/drawing/2014/main" id="{40017FB9-6221-99F1-7446-8291FC0253F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 y="3696652"/>
            <a:ext cx="8778240" cy="3039428"/>
          </a:xfrm>
          <a:prstGeom prst="rect">
            <a:avLst/>
          </a:prstGeom>
          <a:noFill/>
          <a:ln>
            <a:noFill/>
          </a:ln>
        </p:spPr>
      </p:pic>
    </p:spTree>
    <p:extLst>
      <p:ext uri="{BB962C8B-B14F-4D97-AF65-F5344CB8AC3E}">
        <p14:creationId xmlns:p14="http://schemas.microsoft.com/office/powerpoint/2010/main" val="467503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55B63-6FFA-5090-B2ED-35D6F0C9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78EB5-1428-3E75-45C0-8C845BBA2094}"/>
              </a:ext>
            </a:extLst>
          </p:cNvPr>
          <p:cNvSpPr>
            <a:spLocks noGrp="1"/>
          </p:cNvSpPr>
          <p:nvPr>
            <p:ph type="title"/>
          </p:nvPr>
        </p:nvSpPr>
        <p:spPr>
          <a:xfrm>
            <a:off x="1645920" y="203541"/>
            <a:ext cx="7955280" cy="747435"/>
          </a:xfrm>
        </p:spPr>
        <p:txBody>
          <a:bodyPr>
            <a:normAutofit/>
          </a:bodyPr>
          <a:lstStyle/>
          <a:p>
            <a:pPr algn="ctr"/>
            <a:r>
              <a:rPr lang="en-US" sz="2800" b="1" dirty="0">
                <a:solidFill>
                  <a:srgbClr val="00B0F0"/>
                </a:solidFill>
                <a:effectLst/>
                <a:latin typeface="Arial Black" panose="020B0A04020102020204" pitchFamily="34" charset="0"/>
                <a:ea typeface="Times New Roman" panose="02020603050405020304" pitchFamily="18" charset="0"/>
              </a:rPr>
              <a:t>testing</a:t>
            </a:r>
            <a:endParaRPr sz="5400" dirty="0">
              <a:solidFill>
                <a:srgbClr val="00B0F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D46F6975-753D-1B74-2013-ACEBCB698D6B}"/>
              </a:ext>
            </a:extLst>
          </p:cNvPr>
          <p:cNvSpPr>
            <a:spLocks noGrp="1"/>
          </p:cNvSpPr>
          <p:nvPr>
            <p:ph idx="1"/>
          </p:nvPr>
        </p:nvSpPr>
        <p:spPr>
          <a:xfrm>
            <a:off x="365760" y="950976"/>
            <a:ext cx="8412480" cy="5608320"/>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Testing is the process in which the system is run on manually created input so that the system is correctly working as desired or not.</a:t>
            </a:r>
          </a:p>
          <a:p>
            <a:pPr algn="just"/>
            <a:r>
              <a:rPr lang="en-US" sz="2400" dirty="0">
                <a:effectLst/>
                <a:latin typeface="Times New Roman" panose="02020603050405020304" pitchFamily="18" charset="0"/>
                <a:ea typeface="Times New Roman" panose="02020603050405020304" pitchFamily="18" charset="0"/>
              </a:rPr>
              <a:t>During systems testing, the system is used experimentally to ensure that the software does not fail. In other words, we can say that it will run according to its specifications and in the way users expect.</a:t>
            </a:r>
          </a:p>
          <a:p>
            <a:pPr marL="0" indent="0" algn="just">
              <a:buNone/>
            </a:pPr>
            <a:r>
              <a:rPr lang="en-US" sz="1800" b="1" dirty="0">
                <a:effectLst/>
                <a:latin typeface="Times New Roman" panose="02020603050405020304" pitchFamily="18" charset="0"/>
                <a:ea typeface="Times New Roman" panose="02020603050405020304" pitchFamily="18" charset="0"/>
              </a:rPr>
              <a:t>VALIDATION CRITERIA</a:t>
            </a:r>
          </a:p>
          <a:p>
            <a:pPr marL="0" indent="0" algn="just">
              <a:buNone/>
            </a:pPr>
            <a:r>
              <a:rPr lang="en-US" sz="18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All the screens have a similar look and feel. They all have the almost same color combinations in its background. This provides a better user interface to the users. </a:t>
            </a:r>
            <a:endParaRPr lang="en-IN" sz="2000" dirty="0">
              <a:effectLst/>
              <a:latin typeface="Times New Roman" panose="02020603050405020304" pitchFamily="18" charset="0"/>
              <a:ea typeface="Times New Roman" panose="02020603050405020304" pitchFamily="18" charset="0"/>
            </a:endParaRPr>
          </a:p>
          <a:p>
            <a:pPr marL="342900" indent="-342900" algn="just">
              <a:lnSpc>
                <a:spcPct val="150000"/>
              </a:lnSpc>
              <a:buAutoNum type="arabicParenR"/>
            </a:pPr>
            <a:r>
              <a:rPr lang="en-US" sz="2000" dirty="0">
                <a:effectLst/>
                <a:latin typeface="Times New Roman" panose="02020603050405020304" pitchFamily="18" charset="0"/>
                <a:ea typeface="Times New Roman" panose="02020603050405020304" pitchFamily="18" charset="0"/>
              </a:rPr>
              <a:t>The primary key values cannot be duplicated. </a:t>
            </a:r>
            <a:endParaRPr lang="en-IN" sz="2000" dirty="0">
              <a:latin typeface="Times New Roman" panose="02020603050405020304" pitchFamily="18" charset="0"/>
              <a:ea typeface="Times New Roman" panose="02020603050405020304" pitchFamily="18" charset="0"/>
            </a:endParaRPr>
          </a:p>
          <a:p>
            <a:pPr marL="342900" indent="-342900" algn="just">
              <a:lnSpc>
                <a:spcPct val="150000"/>
              </a:lnSpc>
              <a:buAutoNum type="arabicParenR"/>
            </a:pPr>
            <a:r>
              <a:rPr lang="en-US" sz="2000" dirty="0">
                <a:effectLst/>
                <a:latin typeface="Times New Roman" panose="02020603050405020304" pitchFamily="18" charset="0"/>
                <a:ea typeface="Times New Roman" panose="02020603050405020304" pitchFamily="18" charset="0"/>
              </a:rPr>
              <a:t>All the entries in any combo box have been sorted in alphabetical order. This helps a user while selecting a value from the combo box.</a:t>
            </a:r>
            <a:endParaRPr lang="en-IN" sz="2000" dirty="0">
              <a:effectLst/>
              <a:latin typeface="Times New Roman" panose="02020603050405020304" pitchFamily="18" charset="0"/>
              <a:ea typeface="Times New Roman" panose="02020603050405020304" pitchFamily="18" charset="0"/>
            </a:endParaRPr>
          </a:p>
          <a:p>
            <a:pPr marL="0" indent="0" algn="just">
              <a:buNone/>
            </a:pPr>
            <a:endParaRPr lang="en-US" sz="1800" dirty="0">
              <a:effectLst/>
              <a:latin typeface="Times New Roman" panose="02020603050405020304" pitchFamily="18" charset="0"/>
              <a:ea typeface="Times New Roman" panose="02020603050405020304" pitchFamily="18" charset="0"/>
            </a:endParaRPr>
          </a:p>
          <a:p>
            <a:pPr marL="0" indent="0" algn="just">
              <a:buNone/>
            </a:pPr>
            <a:endParaRPr lang="en-IN" sz="1800" b="1" dirty="0">
              <a:effectLst/>
              <a:latin typeface="Times New Roman" panose="02020603050405020304" pitchFamily="18" charset="0"/>
              <a:ea typeface="Times New Roman" panose="02020603050405020304" pitchFamily="18" charset="0"/>
            </a:endParaRPr>
          </a:p>
          <a:p>
            <a:pPr marL="0" indent="0" algn="just">
              <a:buNone/>
            </a:pPr>
            <a:endParaRPr lang="en-IN" sz="2800" b="1" dirty="0"/>
          </a:p>
        </p:txBody>
      </p:sp>
    </p:spTree>
    <p:extLst>
      <p:ext uri="{BB962C8B-B14F-4D97-AF65-F5344CB8AC3E}">
        <p14:creationId xmlns:p14="http://schemas.microsoft.com/office/powerpoint/2010/main" val="2193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5301-357B-8E3A-AD07-4B771A60D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69A4E-88AD-03DE-2343-97202DED8E95}"/>
              </a:ext>
            </a:extLst>
          </p:cNvPr>
          <p:cNvSpPr>
            <a:spLocks noGrp="1"/>
          </p:cNvSpPr>
          <p:nvPr>
            <p:ph type="title"/>
          </p:nvPr>
        </p:nvSpPr>
        <p:spPr>
          <a:xfrm>
            <a:off x="1722120" y="532050"/>
            <a:ext cx="7955280" cy="747435"/>
          </a:xfrm>
        </p:spPr>
        <p:txBody>
          <a:bodyPr>
            <a:normAutofit/>
          </a:bodyPr>
          <a:lstStyle/>
          <a:p>
            <a:pPr algn="ctr"/>
            <a:r>
              <a:rPr lang="en-US" sz="2800" b="1" dirty="0">
                <a:solidFill>
                  <a:srgbClr val="00B0F0"/>
                </a:solidFill>
                <a:effectLst/>
                <a:latin typeface="Arial Black" panose="020B0A04020102020204" pitchFamily="34" charset="0"/>
                <a:ea typeface="Times New Roman" panose="02020603050405020304" pitchFamily="18" charset="0"/>
              </a:rPr>
              <a:t>importance of testing</a:t>
            </a:r>
            <a:endParaRPr sz="5400" dirty="0">
              <a:solidFill>
                <a:srgbClr val="00B0F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1F5053E0-BE1D-27A8-B2CE-580BCA7D47F7}"/>
              </a:ext>
            </a:extLst>
          </p:cNvPr>
          <p:cNvSpPr>
            <a:spLocks noGrp="1"/>
          </p:cNvSpPr>
          <p:nvPr>
            <p:ph idx="1"/>
          </p:nvPr>
        </p:nvSpPr>
        <p:spPr>
          <a:xfrm>
            <a:off x="365760" y="1249680"/>
            <a:ext cx="8412480" cy="5608320"/>
          </a:xfrm>
        </p:spPr>
        <p:txBody>
          <a:bodyPr>
            <a:normAutofit/>
          </a:bodyPr>
          <a:lstStyle/>
          <a:p>
            <a:pPr marL="0" indent="0" algn="just">
              <a:buNone/>
            </a:pPr>
            <a:r>
              <a:rPr lang="en-US" sz="3200" dirty="0">
                <a:effectLst/>
                <a:latin typeface="Times New Roman" panose="02020603050405020304" pitchFamily="18" charset="0"/>
                <a:ea typeface="Times New Roman" panose="02020603050405020304" pitchFamily="18" charset="0"/>
              </a:rPr>
              <a:t>During systems testing, the system is used experimentally to ensure that the software does not fail. In other words, we can say that it will run according to its specifications and in the way users expect. Special test data are input for processing, and the results examined. The importance of system testing is that the system is expected to run according to member’s requirement before delivering it to the customer. The System is tested on the basis of specification so that it does not fail on user site.</a:t>
            </a:r>
            <a:endParaRPr lang="en-IN" sz="3200" dirty="0">
              <a:effectLst/>
              <a:latin typeface="Times New Roman" panose="02020603050405020304" pitchFamily="18" charset="0"/>
              <a:ea typeface="Times New Roman" panose="02020603050405020304" pitchFamily="18" charset="0"/>
            </a:endParaRPr>
          </a:p>
          <a:p>
            <a:pPr marL="0" indent="0" algn="just">
              <a:buNone/>
            </a:pPr>
            <a:endParaRPr lang="en-IN" sz="4400" b="1" dirty="0"/>
          </a:p>
        </p:txBody>
      </p:sp>
    </p:spTree>
    <p:extLst>
      <p:ext uri="{BB962C8B-B14F-4D97-AF65-F5344CB8AC3E}">
        <p14:creationId xmlns:p14="http://schemas.microsoft.com/office/powerpoint/2010/main" val="2872049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7E0AB-D4E9-A464-432F-40552DA33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F0216-D179-1AB4-76E3-14E41BA73F8C}"/>
              </a:ext>
            </a:extLst>
          </p:cNvPr>
          <p:cNvSpPr>
            <a:spLocks noGrp="1"/>
          </p:cNvSpPr>
          <p:nvPr>
            <p:ph type="title"/>
          </p:nvPr>
        </p:nvSpPr>
        <p:spPr>
          <a:xfrm>
            <a:off x="2171700" y="627213"/>
            <a:ext cx="6377940" cy="1293028"/>
          </a:xfrm>
        </p:spPr>
        <p:txBody>
          <a:bodyPr/>
          <a:lstStyle/>
          <a:p>
            <a:pPr algn="ctr"/>
            <a:r>
              <a:rPr b="1" dirty="0">
                <a:solidFill>
                  <a:srgbClr val="00B0F0"/>
                </a:solidFill>
                <a:latin typeface="Arial Black" panose="020B0A04020102020204" pitchFamily="34" charset="0"/>
              </a:rPr>
              <a:t>Conclusion</a:t>
            </a:r>
          </a:p>
        </p:txBody>
      </p:sp>
      <p:sp>
        <p:nvSpPr>
          <p:cNvPr id="3" name="Content Placeholder 2">
            <a:extLst>
              <a:ext uri="{FF2B5EF4-FFF2-40B4-BE49-F238E27FC236}">
                <a16:creationId xmlns:a16="http://schemas.microsoft.com/office/drawing/2014/main" id="{948CF9D1-8B6A-FBA2-45B5-95FD3F889C1D}"/>
              </a:ext>
            </a:extLst>
          </p:cNvPr>
          <p:cNvSpPr>
            <a:spLocks noGrp="1"/>
          </p:cNvSpPr>
          <p:nvPr>
            <p:ph idx="1"/>
          </p:nvPr>
        </p:nvSpPr>
        <p:spPr>
          <a:xfrm>
            <a:off x="426720" y="1996440"/>
            <a:ext cx="8275320" cy="4221480"/>
          </a:xfrm>
        </p:spPr>
        <p:txBody>
          <a:bodyPr/>
          <a:lstStyle/>
          <a:p>
            <a:pPr algn="just"/>
            <a:r>
              <a:rPr dirty="0">
                <a:latin typeface="Times New Roman" panose="02020603050405020304" pitchFamily="18" charset="0"/>
                <a:cs typeface="Times New Roman" panose="02020603050405020304" pitchFamily="18" charset="0"/>
              </a:rPr>
              <a:t>The system provides an efficient, flexible, and user-friendly platform for book reselling and donation. The donor feature enhances accessibility and usability, ensuring books reach those in need.</a:t>
            </a:r>
            <a:endParaRPr lang="en-US" dirty="0">
              <a:latin typeface="Times New Roman" panose="02020603050405020304" pitchFamily="18" charset="0"/>
              <a:cs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Our Effort Is to create our website’s “Donation” Feature more efficient, Flexible and more user friendly to our customer. The Book Donation Management System was successfully developed and implemented, providing a platform that connects book donors with recipients in need</a:t>
            </a:r>
            <a:endParaRPr lang="en-US" sz="2800" dirty="0"/>
          </a:p>
          <a:p>
            <a:pPr algn="just"/>
            <a:endParaRPr dirty="0"/>
          </a:p>
        </p:txBody>
      </p:sp>
    </p:spTree>
    <p:extLst>
      <p:ext uri="{BB962C8B-B14F-4D97-AF65-F5344CB8AC3E}">
        <p14:creationId xmlns:p14="http://schemas.microsoft.com/office/powerpoint/2010/main" val="2409346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A336B-1B82-6C7F-10A7-BB9700332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47244-38C0-3F3A-343D-6F5BF849298E}"/>
              </a:ext>
            </a:extLst>
          </p:cNvPr>
          <p:cNvSpPr>
            <a:spLocks noGrp="1"/>
          </p:cNvSpPr>
          <p:nvPr>
            <p:ph type="title"/>
          </p:nvPr>
        </p:nvSpPr>
        <p:spPr>
          <a:xfrm>
            <a:off x="2324100" y="383373"/>
            <a:ext cx="6377940" cy="1293028"/>
          </a:xfrm>
        </p:spPr>
        <p:txBody>
          <a:bodyPr/>
          <a:lstStyle/>
          <a:p>
            <a:pPr algn="ctr"/>
            <a:r>
              <a:rPr lang="en-US" b="1" dirty="0">
                <a:solidFill>
                  <a:srgbClr val="00B0F0"/>
                </a:solidFill>
                <a:latin typeface="Arial Black" panose="020B0A04020102020204" pitchFamily="34" charset="0"/>
              </a:rPr>
              <a:t>Future enhancement</a:t>
            </a:r>
            <a:endParaRPr b="1" dirty="0">
              <a:solidFill>
                <a:srgbClr val="00B0F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3D879AEA-F630-58A8-0DC2-EF4DBAA29874}"/>
              </a:ext>
            </a:extLst>
          </p:cNvPr>
          <p:cNvSpPr>
            <a:spLocks noGrp="1"/>
          </p:cNvSpPr>
          <p:nvPr>
            <p:ph idx="1"/>
          </p:nvPr>
        </p:nvSpPr>
        <p:spPr>
          <a:xfrm>
            <a:off x="426720" y="1996440"/>
            <a:ext cx="8275320" cy="4221480"/>
          </a:xfrm>
        </p:spPr>
        <p:txBody>
          <a:bodyPr>
            <a:normAutofit fontScale="92500" lnSpcReduction="10000"/>
          </a:bodyPr>
          <a:lstStyle/>
          <a:p>
            <a:pPr marL="342900" lvl="0" indent="-342900" algn="just">
              <a:lnSpc>
                <a:spcPct val="150000"/>
              </a:lnSpc>
              <a:spcBef>
                <a:spcPts val="800"/>
              </a:spcBef>
              <a:spcAft>
                <a:spcPts val="800"/>
              </a:spcAft>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Mobile Application: A mobile version of the system could be developed to increase accessibility and user engagement.</a:t>
            </a:r>
            <a:endParaRPr lang="en-IN" sz="24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Real-Time Book Tracking: Implementing a real-time tracking system for donations could improve the transparency of the donation process.</a:t>
            </a:r>
            <a:endParaRPr lang="en-IN" sz="24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800"/>
              </a:spcBef>
              <a:buFont typeface="Symbol" panose="05050102010706020507" pitchFamily="18" charset="2"/>
              <a:buChar char=""/>
            </a:pPr>
            <a:r>
              <a:rPr lang="en-US" sz="2400" dirty="0">
                <a:effectLst/>
                <a:latin typeface="Times New Roman" panose="02020603050405020304" pitchFamily="18" charset="0"/>
                <a:ea typeface="Times New Roman" panose="02020603050405020304" pitchFamily="18" charset="0"/>
              </a:rPr>
              <a:t>Expanded User Base: The system can be scaled to include more diverse groups of donors and recipients, including international users.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4097470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333</TotalTime>
  <Words>1453</Words>
  <Application>Microsoft Office PowerPoint</Application>
  <PresentationFormat>On-screen Show (4:3)</PresentationFormat>
  <Paragraphs>101</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Century Gothic</vt:lpstr>
      <vt:lpstr>Courier New</vt:lpstr>
      <vt:lpstr>Symbol</vt:lpstr>
      <vt:lpstr>Times New Roman</vt:lpstr>
      <vt:lpstr>Wingdings</vt:lpstr>
      <vt:lpstr>Vapor Trail</vt:lpstr>
      <vt:lpstr>Online Book donate Management System</vt:lpstr>
      <vt:lpstr>Abstract</vt:lpstr>
      <vt:lpstr>Introduction</vt:lpstr>
      <vt:lpstr>Purpose &amp; scope</vt:lpstr>
      <vt:lpstr>System specification</vt:lpstr>
      <vt:lpstr>Modules</vt:lpstr>
      <vt:lpstr>Modules</vt:lpstr>
      <vt:lpstr>SYSTEM ARCHITECTURE</vt:lpstr>
      <vt:lpstr>SYSTEM ARCHITECTURE</vt:lpstr>
      <vt:lpstr>PowerPoint Presentation</vt:lpstr>
      <vt:lpstr>PowerPoint Presentation</vt:lpstr>
      <vt:lpstr>ER Diagram (Textual Representation)</vt:lpstr>
      <vt:lpstr>Screen shots</vt:lpstr>
      <vt:lpstr>Screen shots</vt:lpstr>
      <vt:lpstr>Screen shots</vt:lpstr>
      <vt:lpstr>Screen shots</vt:lpstr>
      <vt:lpstr>Screen shots</vt:lpstr>
      <vt:lpstr>Screen shots</vt:lpstr>
      <vt:lpstr>testing</vt:lpstr>
      <vt:lpstr>importance of testing</vt:lpstr>
      <vt:lpstr>Conclusion</vt:lpstr>
      <vt:lpstr>Future enhancement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Darshan</dc:creator>
  <cp:keywords/>
  <dc:description>generated using python-pptx</dc:description>
  <cp:lastModifiedBy>SYED ADIL</cp:lastModifiedBy>
  <cp:revision>21</cp:revision>
  <dcterms:created xsi:type="dcterms:W3CDTF">2013-01-27T09:14:16Z</dcterms:created>
  <dcterms:modified xsi:type="dcterms:W3CDTF">2025-05-17T01:57:07Z</dcterms:modified>
  <cp:category/>
</cp:coreProperties>
</file>